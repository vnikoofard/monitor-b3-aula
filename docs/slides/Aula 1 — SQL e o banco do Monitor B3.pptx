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Hoje: os conceitos de banco relacional e de SQL usados no projeto. Na segunda parte, construímos o banco ao vivo no Supabase. Próximas aulas: Git e GitHub, Streamlit e, por fim, a arquitetura com 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banco é o centro: o pipeline escreve, o app lê, e os dois nunca conversam diretamente. Hoje ficamos só dentro do Supabase.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= um tipo de coisa. Coluna = um atributo, sempre do mesmo tipo. Linha = um registro, aqui uma ação. É a tabela ativos do nosso projeto, com os dados reais do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tipo é uma promessa: o banco recusa um texto numa coluna numérica. Destaque: preço em numeric, que é decimal exato; float arredonda. uuid é o formato do id dos usuários do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bloco: como uma linha é identificada e como uma tabela aponta para outra.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PK: nunca repete, nunca é vazia. Pode ser uma coluna (ticker) ou mais (ticker + data). A composta impede duas cotações da mesma ação no mesmo dia. No exemplo, a nova linha tem o mesmo par ticker + data da linha destacada; só o fechamento é diferente, e mesmo assim o banco recusa, porque a chave olha apenas ticker e data. No pipeline, é por isso que usamos upsert: em vez de recusar, atualiza a linha existente. Valores de preço são ilustrativos.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setor_id em ativos aponta para id em setores. Dois efeitos: várias ações podem apontar para o mesmo setor, e o banco recusa um setor que não existe. É a integridade referencial.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notação é de cardinalidade: lê-se de cima para baixo, um setor para N ações. No slide seguinte, o diagrama completo usa setas de chave estrangeira, que fazem o caminho inverso: saem da tabela que tem a coluna de FK (o lado N) e apontam para a tabela referenciada (o lado 1), como no Schema Visualizer. As duas leituras descrevem a mesma relação. 1:1 = a PK de profiles é também FK. 1:N = a FK fica do lado N (ativos.setor_id). N:N = tabela de ligação com duas FKs: carteira_itens, que é o lado N das duas relações 1:N.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completo. ativos é o centro: três tabelas apontam para ela. A única seta que cruza os grupos liga carteira_itens a ativos: carteiras de usuários são feitas de ações do mercado. É o que veremos no Schema Visualizer ao final da construção.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bloco: os comandos essenciais. SQL é declarativa: dizemos o que queremos, o banco decide como buscar.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CRUD: criar, ler, alterar, apagar. No projeto: o pipeline faz INSERT e UPDATE (upsert), o app faz SELECT e cria carteiras, o professor desativa ações com UPDATE. Atenção ao WHERE no UPDATE e no DELETE: sem ele, afeta a tabela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em voz alta: selecione ticker e nome, da tabela ativos, onde ativo é verdadeiro, ordenado por ticker, só 3. O resultado é sempre uma nova tabela. Ao vivo: rodar no SQL Editor e mudar o limit e o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JOIN usa a chave estrangeira para casar linhas: para cada ação, busca o setor cujo id é igual ao setor_id. a e s são apelidos. É exatamente o que a view do ranking faz por 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count(*) conta as linhas de cada grupo. Os números são os do nosso script: 24 ações em 16 setores. Exercício ao vivo: trocar count por outra agregação, ou filtrar grupos com having.
Aqui está o comando do slide reescrito na **ordem em que o banco realmente o processa**. Atenção: escrito assim, ele **não roda**. É só para entender a lógica; para executar, a ordem tem de ser a do slide.
```
1.  from ativos a
2.  join setores s on s.id = a.setor_id
3.  group by s.nome
4.  select s.nome, count(*) as acoes
5.  order by acoes desc
```
A ideia é que cada passo recebe uma tabela, transforma e passa adiante, como uma linha de montagem.
## O que sai de cada passo
**1. `from ativos a`**: pega a tabela de ações inteira.
→ 24 linhas, uma por ação (PETR4, VALE3, ITUB4…), com o número do setor de cada uma.
**2. `join setores s on s.id = a.setor_id`**: cola em cada ação a linha do seu setor.
→ Continuam 24 linhas, mas agora cada uma também tem o nome do setor: "PETR4, Petróleo e gás", "ITUB4, Bancos", "BBAS3, Bancos"…
**3. `group by s.nome`**: empilha as linhas que têm o mesmo nome de setor.
→ 16 grupos. O grupo "Bancos" contém 5 linhas (ITUB4, BBDC4, BBAS3, BPAC11, ITSA4); o grupo "Mineração", 1 linha (VALE3).
**4. `select s.nome, count(*) as acoes`**: para cada grupo, monta uma linha de resultado com o nome do setor e a quantidade de linhas do grupo, numa coluna batizada de `acoes`.
→ 16 linhas: "Bancos, 5", "Mineração, 1", "Petróleo e gás, 2"…, ainda sem ordem definida.
**5. `order by acoes desc`**: ordena da maior contagem para a menor.
→ "Bancos, 5" primeiro, depois os setores com 2, depois os com 1.
## Por que a ordem lógica importa
Ela explica dois comportamentos que, na ordem escrita, parecem arbitrários:
- **O `order by` pode usar o apelido `acoes`.** Ele vem depois do `select` (passo 5 depois do passo 4), quando a coluna `acoes` já existe.
- **Um `where` não poderia usar `acoes`.** O `where` filtra linhas antes de agrupar, entre os passos 2 e 3, quando a contagem ainda não foi feita. Para filtrar pelo resultado da contagem, por exemplo "só setores com mais de uma ação", existe o `having`, que roda logo depois do `group by`.
A ordem lógica completa, com as cláusulas que este comando não usa, é:
```
from → join → where → group by → having → select → order by → limit
```
Uma forma de olhar: **primeiro o banco decide de onde vêm os dados** (`from`, `join`), **depois quais linhas ficam** (`where`), **como agrupar** (`group by`, `having`), **o que mostrar** (`select`) e, por último, **em que ordem e quantas** (`order by`, `limit`).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bloco: tudo o que faz o Supabase ser mais que um depósito de tabelas.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view não guarda dados: guarda a consulta. O app lê v_ranking_atual como se fosse uma tabela e não precisa saber fazer JOIN. A opção security_invoker é obrigatória: sem ela, a view mostraria dados de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RPC = chamar uma função que está em outro computador. O app faz uma única chamada; a função escolhe as ações e grava tudo numa transação. A regra fica no banco: vale para qualquer frontend e não pode ser burlada pelo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alguém se cadastra, o Supabase grava em auth.users. O trigger reage e cria a linha correspondente em profiles, lendo o nome enviado no cadastro. Assim, todo usuário tem perfil, sem o app precisar lembrar.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Level Security: o banco acrescenta a condição da política a cada consulta, usando o id de quem está logado. O app pede todas as carteiras; cada um recebe só as suas. A segurança fica no banco, não no código do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Fotos não cabem bem em tabelas: ficam no Storage, e a tabela guarda só o link. Cada usuário tem uma pasta com o seu id; a política só deixa enviar ou apagar arquivos na própria pasta. Mesma ideia da RLS, aplicada a arquivos.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dez conceitos que vamos usar agora, na construção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Sequência da construção ao vivo, na ordem do guia. Primeiro pela interface (Table Editor), depois o script completo para quem quiser conferir.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47200" y="812800"/>
            <a:ext cx="1219200" cy="121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8DB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AULA 1 DE 4 · BANCO DE DADOS NA NUVEM</a:t>
            </a:r>
            <a:endParaRPr lang="en-US" sz="13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433042"/>
            <a:ext cx="850265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e o banco do Monitor B3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12800" y="4124523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 tabelas à segurança por linha, no Supabase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5822355"/>
            <a:ext cx="1088339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Prof. Vahid Nikoofard · FAT-UERJ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o banco entra no projeto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630190"/>
            <a:ext cx="2095500" cy="1686421"/>
          </a:xfrm>
          <a:prstGeom prst="roundRect">
            <a:avLst>
              <a:gd name="adj" fmla="val 7154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4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38300" y="28905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3332" y="3449340"/>
            <a:ext cx="184713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Yahoo Finance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7098" y="3825180"/>
            <a:ext cx="79950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cotações</a:t>
            </a:r>
            <a:endParaRPr lang="en-US" sz="1300" dirty="0"/>
          </a:p>
        </p:txBody>
      </p:sp>
      <p:pic>
        <p:nvPicPr>
          <p:cNvPr id="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73400" y="3422650"/>
            <a:ext cx="406400" cy="101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38550" y="2630190"/>
            <a:ext cx="2095500" cy="1686421"/>
          </a:xfrm>
          <a:prstGeom prst="roundRect">
            <a:avLst>
              <a:gd name="adj" fmla="val 7154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9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57700" y="28905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84518" y="3449340"/>
            <a:ext cx="200346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Python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060508" y="3825180"/>
            <a:ext cx="125158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grava todo dia</a:t>
            </a:r>
            <a:endParaRPr lang="en-US" sz="1300" dirty="0"/>
          </a:p>
        </p:txBody>
      </p:sp>
      <p:pic>
        <p:nvPicPr>
          <p:cNvPr id="1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92800" y="3422650"/>
            <a:ext cx="406400" cy="1016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57950" y="2630190"/>
            <a:ext cx="2095500" cy="1686421"/>
          </a:xfrm>
          <a:prstGeom prst="roundRect">
            <a:avLst>
              <a:gd name="adj" fmla="val 7154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4" name="Image 4" descr="Databa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77100" y="2890540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78251" y="3449340"/>
            <a:ext cx="12548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6582976" y="3825180"/>
            <a:ext cx="1845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CE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tabelas, regras, login</a:t>
            </a:r>
            <a:endParaRPr lang="en-US" sz="1300" dirty="0"/>
          </a:p>
        </p:txBody>
      </p:sp>
      <p:pic>
        <p:nvPicPr>
          <p:cNvPr id="17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12200" y="3422650"/>
            <a:ext cx="406400" cy="10160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277350" y="2630190"/>
            <a:ext cx="2095500" cy="1686421"/>
          </a:xfrm>
          <a:prstGeom prst="roundRect">
            <a:avLst>
              <a:gd name="adj" fmla="val 7154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19" name="Image 6" descr="Char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96500" y="2890540"/>
            <a:ext cx="457200" cy="457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443690" y="3449340"/>
            <a:ext cx="176272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Streamlit</a:t>
            </a:r>
            <a:endParaRPr lang="en-US" sz="1800" dirty="0"/>
          </a:p>
        </p:txBody>
      </p:sp>
      <p:sp>
        <p:nvSpPr>
          <p:cNvPr id="21" name="Text 12"/>
          <p:cNvSpPr/>
          <p:nvPr/>
        </p:nvSpPr>
        <p:spPr>
          <a:xfrm>
            <a:off x="9829453" y="3825180"/>
            <a:ext cx="99119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lê e mostra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812800" y="5687120"/>
            <a:ext cx="2832894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Hoje: a caixa azul. Aula 2: o resto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tabela é uma grade de linhas e colunas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2533253"/>
            <a:ext cx="6604000" cy="2032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4" name="Shape 2"/>
          <p:cNvSpPr/>
          <p:nvPr/>
        </p:nvSpPr>
        <p:spPr>
          <a:xfrm>
            <a:off x="7413625" y="2533253"/>
            <a:ext cx="0" cy="203200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562078"/>
            <a:ext cx="66040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545953"/>
          <a:ext cx="6584950" cy="2015133"/>
        </p:xfrm>
        <a:graphic>
          <a:graphicData uri="http://schemas.openxmlformats.org/drawingml/2006/table">
            <a:tbl>
              <a:tblPr/>
              <a:tblGrid>
                <a:gridCol w="1316990"/>
                <a:gridCol w="2897378"/>
                <a:gridCol w="1316990"/>
                <a:gridCol w="1053592"/>
              </a:tblGrid>
              <a:tr h="403027"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ticker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nome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setor_id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ativo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403027"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PETR4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Petrobras PN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true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027"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VALE3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Vale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true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0"/>
                    </a:solidFill>
                  </a:tcPr>
                </a:tc>
              </a:tr>
              <a:tr h="403027"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ITUB4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Itaú Unibanco PN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5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true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027"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MGLU3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Magazine Luiza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15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4"/>
                        </a:lnSpc>
                        <a:buNone/>
                      </a:pPr>
                      <a:r>
                        <a:rPr lang="en-US" sz="1339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true</a:t>
                      </a:r>
                      <a:endParaRPr lang="en-US" sz="133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3000" y="2685653"/>
            <a:ext cx="558800" cy="10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02600" y="2609453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coluna: um atributo</a:t>
            </a:r>
            <a:endParaRPr lang="en-US" sz="1500" dirty="0"/>
          </a:p>
        </p:txBody>
      </p:sp>
      <p:pic>
        <p:nvPicPr>
          <p:cNvPr id="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93000" y="3485753"/>
            <a:ext cx="558800" cy="101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02600" y="3409553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linha: um registro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12800" y="4819253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tabela </a:t>
            </a:r>
            <a:r>
              <a:rPr lang="en-US" sz="1500" b="1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ativos</a:t>
            </a:r>
            <a:r>
              <a:rPr lang="en-US" sz="15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guarda uma ação por linha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coluna tem um tipo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2520950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774130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2350" y="212457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'PETR4'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2350" y="244961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675" y="1567755"/>
            <a:ext cx="2520950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2050" y="1774130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02050" y="212457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2050" y="244961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inteiros e ids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5375" y="1567755"/>
            <a:ext cx="2520950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1750" y="1774130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numeric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81750" y="212457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38.4500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81750" y="244961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preços, sem arredondar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55075" y="1567755"/>
            <a:ext cx="2520950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1450" y="1774130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61450" y="212457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0.0123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61450" y="244961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previsões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3884216"/>
            <a:ext cx="2520950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350" y="4090591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2350" y="444103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2026-09-30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2350" y="476607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95675" y="3884216"/>
            <a:ext cx="2520950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2050" y="4090591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bool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02050" y="444103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true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02050" y="476607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 ou não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5375" y="3884216"/>
            <a:ext cx="2520950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1750" y="4090591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uuid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81750" y="444103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9f3c…e21a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81750" y="476607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 dos usuários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55075" y="3884216"/>
            <a:ext cx="2520950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61450" y="4090591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timestamptz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061450" y="4441031"/>
            <a:ext cx="21714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2026-09-30 22:05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61450" y="476607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data, hora e fuso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132362"/>
            <a:ext cx="9810750" cy="1342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Chaves: como as tabelas se ligam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753795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chave primária · chave estrangeira · relações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chave primária identifica cada linha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523240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ativos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967805"/>
            <a:ext cx="5080000" cy="1603772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5" name="Shape 3"/>
          <p:cNvSpPr/>
          <p:nvPr/>
        </p:nvSpPr>
        <p:spPr>
          <a:xfrm>
            <a:off x="5889625" y="1967805"/>
            <a:ext cx="0" cy="1603772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3568402"/>
            <a:ext cx="50800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80505"/>
          <a:ext cx="5060950" cy="1584722"/>
        </p:xfrm>
        <a:graphic>
          <a:graphicData uri="http://schemas.openxmlformats.org/drawingml/2006/table">
            <a:tbl>
              <a:tblPr/>
              <a:tblGrid>
                <a:gridCol w="1720723"/>
                <a:gridCol w="3340227"/>
              </a:tblGrid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ticker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nome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PETR4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Petrobras PN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VALE3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Vale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ITUB4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Itaú Unibanco PN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3698577"/>
            <a:ext cx="1051917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PK: ticker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99200" y="1564580"/>
            <a:ext cx="523240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precos_diarios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99200" y="1967805"/>
            <a:ext cx="5080000" cy="1603772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1" name="Shape 8"/>
          <p:cNvSpPr/>
          <p:nvPr/>
        </p:nvSpPr>
        <p:spPr>
          <a:xfrm>
            <a:off x="11376025" y="1967805"/>
            <a:ext cx="0" cy="1603772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99200" y="3568402"/>
            <a:ext cx="50800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1900" y="1980505"/>
          <a:ext cx="5060950" cy="1584722"/>
        </p:xfrm>
        <a:graphic>
          <a:graphicData uri="http://schemas.openxmlformats.org/drawingml/2006/table">
            <a:tbl>
              <a:tblPr/>
              <a:tblGrid>
                <a:gridCol w="1315847"/>
                <a:gridCol w="2024380"/>
                <a:gridCol w="1720723"/>
              </a:tblGrid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ticker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data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fechamento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PETR4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2026-09-29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38.10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PETR4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2026-09-30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38.45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0"/>
                    </a:solidFill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VALE3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2026-09-30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61.20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299200" y="3698577"/>
            <a:ext cx="2363093" cy="358080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 composta: ticker + data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05550" y="4190008"/>
            <a:ext cx="5067300" cy="1307902"/>
          </a:xfrm>
          <a:prstGeom prst="roundRect">
            <a:avLst>
              <a:gd name="adj" fmla="val 6312"/>
            </a:avLst>
          </a:prstGeom>
          <a:noFill/>
          <a:ln w="12700">
            <a:solidFill>
              <a:srgbClr val="B9520E"/>
            </a:solidFill>
            <a:prstDash val="dash"/>
          </a:ln>
        </p:spPr>
      </p:sp>
      <p:sp>
        <p:nvSpPr>
          <p:cNvPr id="16" name="Text 12"/>
          <p:cNvSpPr/>
          <p:nvPr/>
        </p:nvSpPr>
        <p:spPr>
          <a:xfrm>
            <a:off x="6464300" y="4323358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tentativa de inserir uma nova linha: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64300" y="4587478"/>
            <a:ext cx="489229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PETR4 · 2026-09-30</a:t>
            </a: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· 39.00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64300" y="4869359"/>
            <a:ext cx="489229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recusada: PETR4 em 2026-09-30 já existe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64300" y="5151239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fechamento diferente não importa: a chave é só ticker + data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chave estrangeira aponta para outra tabela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36626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ativos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23200" y="1564580"/>
            <a:ext cx="36626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setores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1847155"/>
            <a:ext cx="3549650" cy="1631950"/>
          </a:xfrm>
          <a:prstGeom prst="rect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9150" y="1850330"/>
            <a:ext cx="3543300" cy="406400"/>
          </a:xfrm>
          <a:prstGeom prst="rect">
            <a:avLst/>
          </a:prstGeom>
          <a:solidFill>
            <a:srgbClr val="DCE7FA"/>
          </a:solidFill>
          <a:ln/>
        </p:spPr>
      </p:sp>
      <p:sp>
        <p:nvSpPr>
          <p:cNvPr id="7" name="Shape 5"/>
          <p:cNvSpPr/>
          <p:nvPr/>
        </p:nvSpPr>
        <p:spPr>
          <a:xfrm>
            <a:off x="819150" y="2253555"/>
            <a:ext cx="35433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6150" y="19347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ticker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17800" y="19347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setor_id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150" y="2256730"/>
            <a:ext cx="3543300" cy="4064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1" name="Shape 9"/>
          <p:cNvSpPr/>
          <p:nvPr/>
        </p:nvSpPr>
        <p:spPr>
          <a:xfrm>
            <a:off x="819150" y="2659955"/>
            <a:ext cx="35433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6150" y="23411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PETR4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17800" y="23411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150" y="2663130"/>
            <a:ext cx="3543300" cy="4064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19150" y="3066355"/>
            <a:ext cx="35433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150" y="27475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ITUB4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17800" y="27475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9150" y="3069530"/>
            <a:ext cx="3543300" cy="4064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9150" y="3472755"/>
            <a:ext cx="35433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150" y="31539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BBAS3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17800" y="31539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26375" y="1847155"/>
            <a:ext cx="3549650" cy="1631950"/>
          </a:xfrm>
          <a:prstGeom prst="rect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29550" y="1850330"/>
            <a:ext cx="3543300" cy="406400"/>
          </a:xfrm>
          <a:prstGeom prst="rect">
            <a:avLst/>
          </a:prstGeom>
          <a:solidFill>
            <a:srgbClr val="DCE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7829550" y="2253555"/>
            <a:ext cx="35433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6550" y="19347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28200" y="19347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29550" y="2256730"/>
            <a:ext cx="3543300" cy="4064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8" name="Shape 26"/>
          <p:cNvSpPr/>
          <p:nvPr/>
        </p:nvSpPr>
        <p:spPr>
          <a:xfrm>
            <a:off x="7829550" y="2659955"/>
            <a:ext cx="35433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6550" y="23411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28200" y="23411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Petróleo e gás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829550" y="2663130"/>
            <a:ext cx="3543300" cy="4064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829550" y="3066355"/>
            <a:ext cx="35433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6550" y="27475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28200" y="27475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Bancos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829550" y="3069530"/>
            <a:ext cx="3543300" cy="4064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6" name="Shape 34"/>
          <p:cNvSpPr/>
          <p:nvPr/>
        </p:nvSpPr>
        <p:spPr>
          <a:xfrm>
            <a:off x="7829550" y="3472755"/>
            <a:ext cx="35433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6550" y="31539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728200" y="3153966"/>
            <a:ext cx="15684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Varejo</a:t>
            </a:r>
            <a:endParaRPr lang="en-US" sz="1300" dirty="0"/>
          </a:p>
        </p:txBody>
      </p:sp>
      <p:pic>
        <p:nvPicPr>
          <p:cNvPr id="3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18000" y="2402780"/>
            <a:ext cx="3556000" cy="101600"/>
          </a:xfrm>
          <a:prstGeom prst="rect">
            <a:avLst/>
          </a:prstGeom>
        </p:spPr>
      </p:pic>
      <p:pic>
        <p:nvPicPr>
          <p:cNvPr id="4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18000" y="2809180"/>
            <a:ext cx="3556000" cy="101600"/>
          </a:xfrm>
          <a:prstGeom prst="rect">
            <a:avLst/>
          </a:prstGeom>
        </p:spPr>
      </p:pic>
      <p:pic>
        <p:nvPicPr>
          <p:cNvPr id="4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18000" y="2809180"/>
            <a:ext cx="3556000" cy="50800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12800" y="3837880"/>
            <a:ext cx="2857599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ITUB4 e BBAS3 → o mesmo setor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3975199" y="3901380"/>
            <a:ext cx="166425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trike="sngStrike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setor_id = 999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5666879" y="3905448"/>
            <a:ext cx="249257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recusado: o setor não existe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tipos de relação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6955"/>
            <a:ext cx="3380284" cy="3912989"/>
          </a:xfrm>
          <a:prstGeom prst="roundRect">
            <a:avLst>
              <a:gd name="adj" fmla="val 3663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67654" y="1748730"/>
            <a:ext cx="127682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para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9500" y="2609949"/>
            <a:ext cx="2853234" cy="464741"/>
          </a:xfrm>
          <a:prstGeom prst="roundRect">
            <a:avLst>
              <a:gd name="adj" fmla="val 15030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100256" tIns="87492" rIns="100256" bIns="6209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auth.users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23517" y="3131840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55267" y="3423940"/>
            <a:ext cx="101600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23517" y="3652540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79500" y="3976390"/>
            <a:ext cx="2853234" cy="464741"/>
          </a:xfrm>
          <a:prstGeom prst="roundRect">
            <a:avLst>
              <a:gd name="adj" fmla="val 15030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100256" tIns="87492" rIns="100256" bIns="6209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profiles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93193" y="4967089"/>
            <a:ext cx="20258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usuário, um perfil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05809" y="1516955"/>
            <a:ext cx="3380383" cy="3912989"/>
          </a:xfrm>
          <a:prstGeom prst="roundRect">
            <a:avLst>
              <a:gd name="adj" fmla="val 3663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36761" y="1748730"/>
            <a:ext cx="13183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para 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669334" y="2609949"/>
            <a:ext cx="2853333" cy="464741"/>
          </a:xfrm>
          <a:prstGeom prst="roundRect">
            <a:avLst>
              <a:gd name="adj" fmla="val 15030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100254" tIns="87492" rIns="100254" bIns="6209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setores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13450" y="3131840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500" dirty="0"/>
          </a:p>
        </p:txBody>
      </p:sp>
      <p:pic>
        <p:nvPicPr>
          <p:cNvPr id="1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3423940"/>
            <a:ext cx="101600" cy="203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01544" y="3652540"/>
            <a:ext cx="18881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69334" y="3976390"/>
            <a:ext cx="2853333" cy="464741"/>
          </a:xfrm>
          <a:prstGeom prst="roundRect">
            <a:avLst>
              <a:gd name="adj" fmla="val 15030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100254" tIns="87492" rIns="100254" bIns="62092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ativos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11958" y="4967089"/>
            <a:ext cx="19679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setor, várias ações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995741" y="1516955"/>
            <a:ext cx="3380284" cy="3912989"/>
          </a:xfrm>
          <a:prstGeom prst="roundRect">
            <a:avLst>
              <a:gd name="adj" fmla="val 3663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005868" y="1748730"/>
            <a:ext cx="135993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para N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8259266" y="2191941"/>
            <a:ext cx="2853234" cy="407888"/>
          </a:xfrm>
          <a:prstGeom prst="roundRect">
            <a:avLst>
              <a:gd name="adj" fmla="val 17125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100256" tIns="87492" rIns="100256" bIns="62092" rtlCol="0" anchor="t">
            <a:normAutofit/>
          </a:bodyPr>
          <a:lstStyle/>
          <a:p>
            <a:pPr algn="ctr" indent="0" marL="0">
              <a:lnSpc>
                <a:spcPts val="1525"/>
              </a:lnSpc>
              <a:buNone/>
            </a:pPr>
            <a:r>
              <a:rPr lang="en-US" sz="1089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carteiras</a:t>
            </a:r>
            <a:endParaRPr lang="en-US" sz="1089" dirty="0"/>
          </a:p>
        </p:txBody>
      </p:sp>
      <p:sp>
        <p:nvSpPr>
          <p:cNvPr id="22" name="Text 18"/>
          <p:cNvSpPr/>
          <p:nvPr/>
        </p:nvSpPr>
        <p:spPr>
          <a:xfrm>
            <a:off x="9616380" y="2656979"/>
            <a:ext cx="139005" cy="226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1"/>
              </a:lnSpc>
              <a:buNone/>
            </a:pPr>
            <a:r>
              <a:rPr lang="en-US" sz="1158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158" dirty="0"/>
          </a:p>
        </p:txBody>
      </p:sp>
      <p:pic>
        <p:nvPicPr>
          <p:cNvPr id="23" name="Image 2" descr="connector">    </p:cNvPr>
          <p:cNvPicPr>
            <a:picLocks noChangeAspect="1"/>
          </p:cNvPicPr>
          <p:nvPr/>
        </p:nvPicPr>
        <p:blipFill>
          <a:blip r:embed="rId3"/>
          <a:srcRect l="0" r="0" t="-391" b="-391"/>
          <a:stretch/>
        </p:blipFill>
        <p:spPr>
          <a:xfrm>
            <a:off x="9635034" y="2883892"/>
            <a:ext cx="101600" cy="15359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7252" y="3062883"/>
            <a:ext cx="157262" cy="226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1"/>
              </a:lnSpc>
              <a:buNone/>
            </a:pPr>
            <a:r>
              <a:rPr lang="en-US" sz="1158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endParaRPr lang="en-US" sz="1158" dirty="0"/>
          </a:p>
        </p:txBody>
      </p:sp>
      <p:sp>
        <p:nvSpPr>
          <p:cNvPr id="25" name="Text 20"/>
          <p:cNvSpPr/>
          <p:nvPr/>
        </p:nvSpPr>
        <p:spPr>
          <a:xfrm>
            <a:off x="8259266" y="3321546"/>
            <a:ext cx="2853234" cy="407888"/>
          </a:xfrm>
          <a:prstGeom prst="roundRect">
            <a:avLst>
              <a:gd name="adj" fmla="val 17125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  <p:txBody>
          <a:bodyPr wrap="square" lIns="100256" tIns="87492" rIns="100256" bIns="62092" rtlCol="0" anchor="t">
            <a:normAutofit/>
          </a:bodyPr>
          <a:lstStyle/>
          <a:p>
            <a:pPr algn="ctr" indent="0" marL="0">
              <a:lnSpc>
                <a:spcPts val="1525"/>
              </a:lnSpc>
              <a:buNone/>
            </a:pPr>
            <a:r>
              <a:rPr lang="en-US" sz="1089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carteira_itens</a:t>
            </a:r>
            <a:endParaRPr lang="en-US" sz="1089" dirty="0"/>
          </a:p>
        </p:txBody>
      </p:sp>
      <p:sp>
        <p:nvSpPr>
          <p:cNvPr id="26" name="Text 21"/>
          <p:cNvSpPr/>
          <p:nvPr/>
        </p:nvSpPr>
        <p:spPr>
          <a:xfrm>
            <a:off x="9607252" y="3786584"/>
            <a:ext cx="157262" cy="226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1"/>
              </a:lnSpc>
              <a:buNone/>
            </a:pPr>
            <a:r>
              <a:rPr lang="en-US" sz="1158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endParaRPr lang="en-US" sz="1158" dirty="0"/>
          </a:p>
        </p:txBody>
      </p:sp>
      <p:pic>
        <p:nvPicPr>
          <p:cNvPr id="27" name="Image 3" descr="connector">    </p:cNvPr>
          <p:cNvPicPr>
            <a:picLocks noChangeAspect="1"/>
          </p:cNvPicPr>
          <p:nvPr/>
        </p:nvPicPr>
        <p:blipFill>
          <a:blip r:embed="rId4"/>
          <a:srcRect l="0" r="0" t="-391" b="-391"/>
          <a:stretch/>
        </p:blipFill>
        <p:spPr>
          <a:xfrm>
            <a:off x="9635034" y="4013498"/>
            <a:ext cx="101600" cy="15359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16380" y="4192488"/>
            <a:ext cx="139005" cy="227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1"/>
              </a:lnSpc>
              <a:buNone/>
            </a:pPr>
            <a:r>
              <a:rPr lang="en-US" sz="1158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158" dirty="0"/>
          </a:p>
        </p:txBody>
      </p:sp>
      <p:sp>
        <p:nvSpPr>
          <p:cNvPr id="29" name="Text 23"/>
          <p:cNvSpPr/>
          <p:nvPr/>
        </p:nvSpPr>
        <p:spPr>
          <a:xfrm>
            <a:off x="8259266" y="4451251"/>
            <a:ext cx="2853234" cy="407888"/>
          </a:xfrm>
          <a:prstGeom prst="roundRect">
            <a:avLst>
              <a:gd name="adj" fmla="val 17125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100256" tIns="87492" rIns="100256" bIns="62092" rtlCol="0" anchor="t">
            <a:normAutofit/>
          </a:bodyPr>
          <a:lstStyle/>
          <a:p>
            <a:pPr algn="ctr" indent="0" marL="0">
              <a:lnSpc>
                <a:spcPts val="1525"/>
              </a:lnSpc>
              <a:buNone/>
            </a:pPr>
            <a:r>
              <a:rPr lang="en-US" sz="1089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ativos</a:t>
            </a:r>
            <a:endParaRPr lang="en-US" sz="1089" dirty="0"/>
          </a:p>
        </p:txBody>
      </p:sp>
      <p:sp>
        <p:nvSpPr>
          <p:cNvPr id="30" name="Text 24"/>
          <p:cNvSpPr/>
          <p:nvPr/>
        </p:nvSpPr>
        <p:spPr>
          <a:xfrm>
            <a:off x="8783330" y="4967089"/>
            <a:ext cx="18051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via tabela de ligação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12800" y="5687120"/>
            <a:ext cx="7042448" cy="358080"/>
          </a:xfrm>
          <a:custGeom>
            <a:avLst/>
            <a:gdLst/>
            <a:ahLst/>
            <a:cxnLst/>
            <a:rect l="l" t="t" r="r" b="b"/>
            <a:pathLst>
              <a:path w="7042448" h="358080">
                <a:moveTo>
                  <a:pt x="179040" y="0"/>
                </a:moveTo>
                <a:lnTo>
                  <a:pt x="6863407" y="0"/>
                </a:lnTo>
                <a:arcTo hR="179040" wR="179040" stAng="16200000" swAng="5400000"/>
                <a:lnTo>
                  <a:pt x="7042448" y="179040"/>
                </a:lnTo>
                <a:arcTo hR="179040" wR="179040" stAng="0" swAng="5400000"/>
                <a:lnTo>
                  <a:pt x="179040" y="358080"/>
                </a:lnTo>
                <a:arcTo hR="179040" wR="179040" stAng="5400000" swAng="5400000"/>
                <a:lnTo>
                  <a:pt x="0" y="179040"/>
                </a:lnTo>
                <a:arcTo hR="179040" wR="179040" stAng="10800000" swAng="5400000"/>
                <a:close/>
              </a:path>
            </a:pathLst>
          </a:cu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diagrama completo, a seta é a chave estrangeira: sai do lado N e aponta para o lado 1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modelo do Monitor B3: 8 tabelas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20130"/>
            <a:ext cx="10553700" cy="2044700"/>
          </a:xfrm>
          <a:prstGeom prst="roundRect">
            <a:avLst>
              <a:gd name="adj" fmla="val 4658"/>
            </a:avLst>
          </a:prstGeom>
          <a:noFill/>
          <a:ln w="12700">
            <a:solidFill>
              <a:srgbClr val="D8D3C8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19150" y="3831530"/>
            <a:ext cx="10553700" cy="2095500"/>
          </a:xfrm>
          <a:prstGeom prst="roundRect">
            <a:avLst>
              <a:gd name="adj" fmla="val 4545"/>
            </a:avLst>
          </a:prstGeom>
          <a:noFill/>
          <a:ln w="12700">
            <a:solidFill>
              <a:srgbClr val="D8D3C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65200" y="15899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MERCADO · o pipeline grava, todos leem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5200" y="39013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USUÁRIO · cada um vê só o que é seu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2350" y="1926530"/>
            <a:ext cx="2019300" cy="622300"/>
          </a:xfrm>
          <a:prstGeom prst="roundRect">
            <a:avLst>
              <a:gd name="adj" fmla="val 11224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1940" y="1984970"/>
            <a:ext cx="9601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setores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1031" y="2277070"/>
            <a:ext cx="4218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 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63950" y="1926530"/>
            <a:ext cx="2019300" cy="622300"/>
          </a:xfrm>
          <a:prstGeom prst="roundRect">
            <a:avLst>
              <a:gd name="adj" fmla="val 11224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2120" y="1984970"/>
            <a:ext cx="8229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ativos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26245" y="2277070"/>
            <a:ext cx="1494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 ticker, FK setor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5550" y="1926530"/>
            <a:ext cx="2019300" cy="622300"/>
          </a:xfrm>
          <a:prstGeom prst="roundRect">
            <a:avLst>
              <a:gd name="adj" fmla="val 11224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984970"/>
            <a:ext cx="19202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precos_diarios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7986" y="2277070"/>
            <a:ext cx="1294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 ticker +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5550" y="2815530"/>
            <a:ext cx="2019300" cy="622300"/>
          </a:xfrm>
          <a:prstGeom prst="roundRect">
            <a:avLst>
              <a:gd name="adj" fmla="val 11224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7980" y="2873970"/>
            <a:ext cx="12344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previsoes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67986" y="3166070"/>
            <a:ext cx="1294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 data + ticker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47150" y="2815530"/>
            <a:ext cx="2019300" cy="622300"/>
          </a:xfrm>
          <a:prstGeom prst="roundRect">
            <a:avLst>
              <a:gd name="adj" fmla="val 11224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6740" y="2873970"/>
            <a:ext cx="9601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49249" y="3166070"/>
            <a:ext cx="8151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 versao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63950" y="4276030"/>
            <a:ext cx="2019300" cy="622300"/>
          </a:xfrm>
          <a:prstGeom prst="roundRect">
            <a:avLst>
              <a:gd name="adj" fmla="val 11224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3480" y="4334470"/>
            <a:ext cx="19202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carteira_itens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93631" y="4626570"/>
            <a:ext cx="15598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 carteira + ticker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5550" y="4276030"/>
            <a:ext cx="2019300" cy="622300"/>
          </a:xfrm>
          <a:prstGeom prst="roundRect">
            <a:avLst>
              <a:gd name="adj" fmla="val 11224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7980" y="4334470"/>
            <a:ext cx="12344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carteiras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6671" y="4626570"/>
            <a:ext cx="13769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 id, FK user_id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47150" y="4276030"/>
            <a:ext cx="2019300" cy="622300"/>
          </a:xfrm>
          <a:prstGeom prst="roundRect">
            <a:avLst>
              <a:gd name="adj" fmla="val 11224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8160" y="4334470"/>
            <a:ext cx="1097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profiles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80751" y="4626570"/>
            <a:ext cx="15520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 = FK auth.users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47150" y="5165030"/>
            <a:ext cx="2019300" cy="622300"/>
          </a:xfrm>
          <a:prstGeom prst="roundRect">
            <a:avLst>
              <a:gd name="adj" fmla="val 11224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71000" y="5223470"/>
            <a:ext cx="1371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auth.users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206706" y="5515570"/>
            <a:ext cx="15001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do Supabase</a:t>
            </a:r>
            <a:endParaRPr lang="en-US" sz="1200" dirty="0"/>
          </a:p>
        </p:txBody>
      </p:sp>
      <p:pic>
        <p:nvPicPr>
          <p:cNvPr id="3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97200" y="2186880"/>
            <a:ext cx="711200" cy="101600"/>
          </a:xfrm>
          <a:prstGeom prst="rect">
            <a:avLst/>
          </a:prstGeom>
        </p:spPr>
      </p:pic>
      <p:pic>
        <p:nvPicPr>
          <p:cNvPr id="3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38800" y="2186880"/>
            <a:ext cx="711200" cy="101600"/>
          </a:xfrm>
          <a:prstGeom prst="rect">
            <a:avLst/>
          </a:prstGeom>
        </p:spPr>
      </p:pic>
      <p:pic>
        <p:nvPicPr>
          <p:cNvPr id="3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26000" y="2504380"/>
            <a:ext cx="1524000" cy="673100"/>
          </a:xfrm>
          <a:prstGeom prst="rect">
            <a:avLst/>
          </a:prstGeom>
        </p:spPr>
      </p:pic>
      <p:pic>
        <p:nvPicPr>
          <p:cNvPr id="3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80400" y="3075880"/>
            <a:ext cx="711200" cy="101600"/>
          </a:xfrm>
          <a:prstGeom prst="rect">
            <a:avLst/>
          </a:prstGeom>
        </p:spPr>
      </p:pic>
      <p:pic>
        <p:nvPicPr>
          <p:cNvPr id="38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19600" y="2504380"/>
            <a:ext cx="101600" cy="1816100"/>
          </a:xfrm>
          <a:prstGeom prst="rect">
            <a:avLst/>
          </a:prstGeom>
        </p:spPr>
      </p:pic>
      <p:pic>
        <p:nvPicPr>
          <p:cNvPr id="39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638800" y="4536380"/>
            <a:ext cx="711200" cy="101600"/>
          </a:xfrm>
          <a:prstGeom prst="rect">
            <a:avLst/>
          </a:prstGeom>
        </p:spPr>
      </p:pic>
      <p:pic>
        <p:nvPicPr>
          <p:cNvPr id="40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80400" y="4536380"/>
            <a:ext cx="711200" cy="101600"/>
          </a:xfrm>
          <a:prstGeom prst="rect">
            <a:avLst/>
          </a:prstGeom>
        </p:spPr>
      </p:pic>
      <p:pic>
        <p:nvPicPr>
          <p:cNvPr id="41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906000" y="4853880"/>
            <a:ext cx="101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132362"/>
            <a:ext cx="9810750" cy="1342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SQL: a linguagem para conversar com o banco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753795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 Query Language · a mesma em quase todo banco relacional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Quatro comandos fazem quase tudo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2520950" cy="4474270"/>
          </a:xfrm>
          <a:prstGeom prst="roundRect">
            <a:avLst>
              <a:gd name="adj" fmla="val 491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4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182493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2350" y="2358330"/>
            <a:ext cx="217144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SELECT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2350" y="2820591"/>
            <a:ext cx="21714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2350" y="5556250"/>
            <a:ext cx="21714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SELECT * FROM ativos;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95675" y="1567755"/>
            <a:ext cx="2520950" cy="4474270"/>
          </a:xfrm>
          <a:prstGeom prst="roundRect">
            <a:avLst>
              <a:gd name="adj" fmla="val 491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9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2050" y="1824930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2050" y="2358330"/>
            <a:ext cx="217144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INSERT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702050" y="2820591"/>
            <a:ext cx="21714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02050" y="5099050"/>
            <a:ext cx="217144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INSERT INTO setores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(nome)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VALUES ('Agro');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75375" y="1567755"/>
            <a:ext cx="2520950" cy="4474270"/>
          </a:xfrm>
          <a:prstGeom prst="roundRect">
            <a:avLst>
              <a:gd name="adj" fmla="val 491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14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1750" y="1824930"/>
            <a:ext cx="40640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81750" y="2358330"/>
            <a:ext cx="217144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UPDATE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381750" y="2820591"/>
            <a:ext cx="21714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alterar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81750" y="5099050"/>
            <a:ext cx="217144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UPDATE ativos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 ativo = false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WHERE ticker='MGLU3';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855075" y="1567755"/>
            <a:ext cx="2520950" cy="4474270"/>
          </a:xfrm>
          <a:prstGeom prst="roundRect">
            <a:avLst>
              <a:gd name="adj" fmla="val 491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19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61450" y="1824930"/>
            <a:ext cx="406400" cy="406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61450" y="2358330"/>
            <a:ext cx="217144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DELETE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9061450" y="2820591"/>
            <a:ext cx="21714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apagar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061450" y="5327650"/>
            <a:ext cx="217144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DELETE FROM carteiras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WHERE id = 42;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SELECT: escolher colunas e filtrar linhas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584450"/>
            <a:ext cx="4826000" cy="1930400"/>
          </a:xfrm>
          <a:prstGeom prst="roundRect">
            <a:avLst>
              <a:gd name="adj" fmla="val 5263"/>
            </a:avLst>
          </a:prstGeom>
          <a:solidFill>
            <a:srgbClr val="1C2433"/>
          </a:solidFill>
          <a:ln/>
        </p:spPr>
        <p:txBody>
          <a:bodyPr wrap="square" lIns="224242" tIns="173442" rIns="94702" bIns="1480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select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ticker, nome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ativos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where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ativo = true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order by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ticker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limit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3;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4667250"/>
            <a:ext cx="1537593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 = colunas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51993" y="4667250"/>
            <a:ext cx="1425178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= linhas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78771" y="4667250"/>
            <a:ext cx="1612999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by = ordem</a:t>
            </a:r>
            <a:endParaRPr lang="en-US" sz="13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45200" y="3754041"/>
            <a:ext cx="508000" cy="10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59600" y="2931716"/>
            <a:ext cx="4318000" cy="174625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9" name="Shape 6"/>
          <p:cNvSpPr/>
          <p:nvPr/>
        </p:nvSpPr>
        <p:spPr>
          <a:xfrm>
            <a:off x="11274425" y="2931716"/>
            <a:ext cx="0" cy="174625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59600" y="4674791"/>
            <a:ext cx="43180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2300" y="2944416"/>
          <a:ext cx="4298950" cy="1727200"/>
        </p:xfrm>
        <a:graphic>
          <a:graphicData uri="http://schemas.openxmlformats.org/drawingml/2006/table">
            <a:tbl>
              <a:tblPr/>
              <a:tblGrid>
                <a:gridCol w="1547622"/>
                <a:gridCol w="2751328"/>
              </a:tblGrid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ticker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nome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ABEV3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Ambev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B3SA3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BBAS3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Banco do Brasil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JOIN: juntar tabelas pela chave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580"/>
            <a:ext cx="2667000" cy="1603772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4" name="Shape 2"/>
          <p:cNvSpPr/>
          <p:nvPr/>
        </p:nvSpPr>
        <p:spPr>
          <a:xfrm>
            <a:off x="3476625" y="1564580"/>
            <a:ext cx="0" cy="1603772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3165177"/>
            <a:ext cx="26670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280"/>
          <a:ext cx="2647950" cy="1584722"/>
        </p:xfrm>
        <a:graphic>
          <a:graphicData uri="http://schemas.openxmlformats.org/drawingml/2006/table">
            <a:tbl>
              <a:tblPr/>
              <a:tblGrid>
                <a:gridCol w="1323975"/>
                <a:gridCol w="1323975"/>
              </a:tblGrid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ticker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setor_id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PETR4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ITUB4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5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VALE3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903960" y="2082006"/>
            <a:ext cx="294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0" y="1564580"/>
            <a:ext cx="2794000" cy="1603772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9" name="Shape 6"/>
          <p:cNvSpPr/>
          <p:nvPr/>
        </p:nvSpPr>
        <p:spPr>
          <a:xfrm>
            <a:off x="7362825" y="1564580"/>
            <a:ext cx="0" cy="1603772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3165177"/>
            <a:ext cx="27940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84700" y="1577280"/>
          <a:ext cx="2774950" cy="1584722"/>
        </p:xfrm>
        <a:graphic>
          <a:graphicData uri="http://schemas.openxmlformats.org/drawingml/2006/table">
            <a:tbl>
              <a:tblPr/>
              <a:tblGrid>
                <a:gridCol w="693738"/>
                <a:gridCol w="2081213"/>
              </a:tblGrid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nome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Petróleo e gás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Mineração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5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Bancos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790160" y="2082006"/>
            <a:ext cx="294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</a:t>
            </a:r>
            <a:endParaRPr lang="en-US" sz="3200" dirty="0"/>
          </a:p>
        </p:txBody>
      </p:sp>
      <p:sp>
        <p:nvSpPr>
          <p:cNvPr id="13" name="Shape 9"/>
          <p:cNvSpPr/>
          <p:nvPr/>
        </p:nvSpPr>
        <p:spPr>
          <a:xfrm>
            <a:off x="8458200" y="1564580"/>
            <a:ext cx="2921000" cy="1603772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4" name="Shape 10"/>
          <p:cNvSpPr/>
          <p:nvPr/>
        </p:nvSpPr>
        <p:spPr>
          <a:xfrm>
            <a:off x="11376025" y="1564580"/>
            <a:ext cx="0" cy="1603772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3165177"/>
            <a:ext cx="29210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70900" y="1577280"/>
          <a:ext cx="2901950" cy="1584722"/>
        </p:xfrm>
        <a:graphic>
          <a:graphicData uri="http://schemas.openxmlformats.org/drawingml/2006/table">
            <a:tbl>
              <a:tblPr/>
              <a:tblGrid>
                <a:gridCol w="1044702"/>
                <a:gridCol w="1857248"/>
              </a:tblGrid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ticker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setor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PETR4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Petróleo e gás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ITUB4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Bancos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VALE3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Mineração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812800" y="3473152"/>
            <a:ext cx="10566400" cy="1320800"/>
          </a:xfrm>
          <a:prstGeom prst="roundRect">
            <a:avLst>
              <a:gd name="adj" fmla="val 7692"/>
            </a:avLst>
          </a:prstGeom>
          <a:solidFill>
            <a:srgbClr val="1C2433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select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a.ticker, s.nome </a:t>
            </a: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setor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ativos a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join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setores s </a:t>
            </a: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s.id = a.setor_id;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BY: resumir em grupos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668191"/>
            <a:ext cx="4064000" cy="2273300"/>
          </a:xfrm>
          <a:prstGeom prst="roundRect">
            <a:avLst>
              <a:gd name="adj" fmla="val 4469"/>
            </a:avLst>
          </a:prstGeom>
          <a:solidFill>
            <a:srgbClr val="1C2433"/>
          </a:solidFill>
          <a:ln/>
        </p:spPr>
        <p:txBody>
          <a:bodyPr wrap="square" lIns="224242" tIns="173442" rIns="117562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select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s.nome,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count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(*) </a:t>
            </a: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acoes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ativos a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join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setores 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s.id = a.setor_id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group by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s.nome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order by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acoes </a:t>
            </a: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desc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175250" y="2784078"/>
            <a:ext cx="1962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64400" y="2772668"/>
            <a:ext cx="3556000" cy="254000"/>
          </a:xfrm>
          <a:prstGeom prst="roundRect">
            <a:avLst>
              <a:gd name="adj" fmla="val 15000"/>
            </a:avLst>
          </a:prstGeom>
          <a:solidFill>
            <a:srgbClr val="1F5FD1"/>
          </a:solidFill>
          <a:ln/>
        </p:spPr>
      </p:sp>
      <p:sp>
        <p:nvSpPr>
          <p:cNvPr id="6" name="Text 4"/>
          <p:cNvSpPr/>
          <p:nvPr/>
        </p:nvSpPr>
        <p:spPr>
          <a:xfrm>
            <a:off x="10947400" y="2784078"/>
            <a:ext cx="149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75250" y="3152378"/>
            <a:ext cx="1962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Petróleo e gás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64400" y="3140968"/>
            <a:ext cx="1422400" cy="254000"/>
          </a:xfrm>
          <a:prstGeom prst="roundRect">
            <a:avLst>
              <a:gd name="adj" fmla="val 15000"/>
            </a:avLst>
          </a:prstGeom>
          <a:solidFill>
            <a:srgbClr val="1F5FD1"/>
          </a:solidFill>
          <a:ln/>
        </p:spPr>
      </p:sp>
      <p:sp>
        <p:nvSpPr>
          <p:cNvPr id="9" name="Text 7"/>
          <p:cNvSpPr/>
          <p:nvPr/>
        </p:nvSpPr>
        <p:spPr>
          <a:xfrm>
            <a:off x="8813800" y="3152378"/>
            <a:ext cx="149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75250" y="3520678"/>
            <a:ext cx="1962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Papel e celulose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64400" y="3509268"/>
            <a:ext cx="1422400" cy="254000"/>
          </a:xfrm>
          <a:prstGeom prst="roundRect">
            <a:avLst>
              <a:gd name="adj" fmla="val 15000"/>
            </a:avLst>
          </a:prstGeom>
          <a:solidFill>
            <a:srgbClr val="1F5FD1"/>
          </a:solidFill>
          <a:ln/>
        </p:spPr>
      </p:sp>
      <p:sp>
        <p:nvSpPr>
          <p:cNvPr id="12" name="Text 10"/>
          <p:cNvSpPr/>
          <p:nvPr/>
        </p:nvSpPr>
        <p:spPr>
          <a:xfrm>
            <a:off x="8813800" y="3520678"/>
            <a:ext cx="149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75250" y="3888978"/>
            <a:ext cx="1962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Energia elétrica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4400" y="3877568"/>
            <a:ext cx="1422400" cy="254000"/>
          </a:xfrm>
          <a:prstGeom prst="roundRect">
            <a:avLst>
              <a:gd name="adj" fmla="val 15000"/>
            </a:avLst>
          </a:prstGeom>
          <a:solidFill>
            <a:srgbClr val="1F5FD1"/>
          </a:solidFill>
          <a:ln/>
        </p:spPr>
      </p:sp>
      <p:sp>
        <p:nvSpPr>
          <p:cNvPr id="15" name="Text 13"/>
          <p:cNvSpPr/>
          <p:nvPr/>
        </p:nvSpPr>
        <p:spPr>
          <a:xfrm>
            <a:off x="8813800" y="3888978"/>
            <a:ext cx="149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75250" y="4257278"/>
            <a:ext cx="1962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Varejo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4400" y="4245868"/>
            <a:ext cx="1422400" cy="254000"/>
          </a:xfrm>
          <a:prstGeom prst="roundRect">
            <a:avLst>
              <a:gd name="adj" fmla="val 15000"/>
            </a:avLst>
          </a:prstGeom>
          <a:solidFill>
            <a:srgbClr val="1F5FD1"/>
          </a:solidFill>
          <a:ln/>
        </p:spPr>
      </p:sp>
      <p:sp>
        <p:nvSpPr>
          <p:cNvPr id="18" name="Text 16"/>
          <p:cNvSpPr/>
          <p:nvPr/>
        </p:nvSpPr>
        <p:spPr>
          <a:xfrm>
            <a:off x="8813800" y="4257278"/>
            <a:ext cx="1499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2400" y="4614168"/>
            <a:ext cx="633120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+ 11 setores com 1 ação cada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790678"/>
            <a:ext cx="9810750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banco também guarda regras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753795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views · funções · triggers · segurança por linha · arquivos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View: uma consulta salva com nome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50" y="2044700"/>
            <a:ext cx="2019300" cy="685800"/>
          </a:xfrm>
          <a:prstGeom prst="roundRect">
            <a:avLst>
              <a:gd name="adj" fmla="val 12037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83772" tIns="0" rIns="83772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previsoes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9150" y="3155950"/>
            <a:ext cx="2019300" cy="685800"/>
          </a:xfrm>
          <a:prstGeom prst="roundRect">
            <a:avLst>
              <a:gd name="adj" fmla="val 12037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83772" tIns="0" rIns="83772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ativos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9150" y="4267200"/>
            <a:ext cx="2019300" cy="685800"/>
          </a:xfrm>
          <a:prstGeom prst="roundRect">
            <a:avLst>
              <a:gd name="adj" fmla="val 12037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  <p:txBody>
          <a:bodyPr wrap="square" lIns="83772" tIns="0" rIns="83772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setores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6150" y="2997200"/>
            <a:ext cx="2781300" cy="1003300"/>
          </a:xfrm>
          <a:prstGeom prst="roundRect">
            <a:avLst>
              <a:gd name="adj" fmla="val 8228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18100" y="3239790"/>
            <a:ext cx="2057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v_ranking_atual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09565" y="3544590"/>
            <a:ext cx="14744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JOINs, prontos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26550" y="3155950"/>
            <a:ext cx="2146300" cy="685800"/>
          </a:xfrm>
          <a:prstGeom prst="roundRect">
            <a:avLst>
              <a:gd name="adj" fmla="val 12037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93960" y="3239790"/>
            <a:ext cx="4114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27498" y="3544590"/>
            <a:ext cx="9444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lê a view</a:t>
            </a:r>
            <a:endParaRPr lang="en-US" sz="1200" dirty="0"/>
          </a:p>
        </p:txBody>
      </p:sp>
      <p:pic>
        <p:nvPicPr>
          <p:cNvPr id="12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94000" y="2336800"/>
            <a:ext cx="2006600" cy="1022350"/>
          </a:xfrm>
          <a:prstGeom prst="rect">
            <a:avLst/>
          </a:prstGeom>
        </p:spPr>
      </p:pic>
      <p:pic>
        <p:nvPicPr>
          <p:cNvPr id="1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94000" y="3448050"/>
            <a:ext cx="2006600" cy="101600"/>
          </a:xfrm>
          <a:prstGeom prst="rect">
            <a:avLst/>
          </a:prstGeom>
        </p:spPr>
      </p:pic>
      <p:pic>
        <p:nvPicPr>
          <p:cNvPr id="14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94000" y="3638550"/>
            <a:ext cx="2006600" cy="1022350"/>
          </a:xfrm>
          <a:prstGeom prst="rect">
            <a:avLst/>
          </a:prstGeom>
        </p:spPr>
      </p:pic>
      <p:pic>
        <p:nvPicPr>
          <p:cNvPr id="15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93000" y="3448050"/>
            <a:ext cx="1778000" cy="101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2800" y="5213350"/>
            <a:ext cx="5170984" cy="358080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security_invoker = true: a view respeita a RLS de quem consulta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Função e RPC: a regra mora no banco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348905"/>
            <a:ext cx="1892300" cy="1252041"/>
          </a:xfrm>
          <a:prstGeom prst="roundRect">
            <a:avLst>
              <a:gd name="adj" fmla="val 7608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58455"/>
            <a:ext cx="15240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8700" y="2865735"/>
            <a:ext cx="15240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8700" y="3160316"/>
            <a:ext cx="15240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Gerar carteira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21496" y="2792115"/>
            <a:ext cx="329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rpc</a:t>
            </a:r>
            <a:endParaRPr lang="en-US" sz="1200" dirty="0"/>
          </a:p>
        </p:txBody>
      </p:sp>
      <p:pic>
        <p:nvPicPr>
          <p:cNvPr id="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5150" y="3056235"/>
            <a:ext cx="7620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60850" y="2201664"/>
            <a:ext cx="3543300" cy="1546622"/>
          </a:xfrm>
          <a:prstGeom prst="roundRect">
            <a:avLst>
              <a:gd name="adj" fmla="val 6159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70400" y="2411214"/>
            <a:ext cx="321792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montar_carteira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70400" y="2718495"/>
            <a:ext cx="321792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pega o último pregão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70400" y="3013075"/>
            <a:ext cx="321792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cria a carteira do dono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70400" y="3307655"/>
            <a:ext cx="321792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insere os itens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49642" y="2792115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insere</a:t>
            </a:r>
            <a:endParaRPr lang="en-US" sz="1200" dirty="0"/>
          </a:p>
        </p:txBody>
      </p:sp>
      <p:pic>
        <p:nvPicPr>
          <p:cNvPr id="1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7850" y="3056235"/>
            <a:ext cx="762000" cy="101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353550" y="2348905"/>
            <a:ext cx="2019300" cy="1252041"/>
          </a:xfrm>
          <a:prstGeom prst="roundRect">
            <a:avLst>
              <a:gd name="adj" fmla="val 7608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63100" y="2558455"/>
            <a:ext cx="16510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Tabelas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563100" y="2865735"/>
            <a:ext cx="16510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carteiras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9563100" y="3160316"/>
            <a:ext cx="16510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carteira_itens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12800" y="4690170"/>
            <a:ext cx="10566400" cy="692150"/>
          </a:xfrm>
          <a:prstGeom prst="roundRect">
            <a:avLst>
              <a:gd name="adj" fmla="val 14679"/>
            </a:avLst>
          </a:prstGeom>
          <a:solidFill>
            <a:srgbClr val="1C2433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cliente().rpc(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"montar_carteira"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{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"p_n"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5})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12800" y="5687120"/>
            <a:ext cx="3715643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chamada, uma transação: tudo ou nada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Trigger: o banco reage a um evento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7370" y="2663230"/>
            <a:ext cx="2654300" cy="1620441"/>
          </a:xfrm>
          <a:prstGeom prst="roundRect">
            <a:avLst>
              <a:gd name="adj" fmla="val 7446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4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91320" y="292358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667" y="3431580"/>
            <a:ext cx="124360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cadastro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891516" y="3792240"/>
            <a:ext cx="60590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app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732213" y="3290590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insert</a:t>
            </a:r>
            <a:endParaRPr lang="en-US" sz="1200" dirty="0"/>
          </a:p>
        </p:txBody>
      </p:sp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80420" y="3554710"/>
            <a:ext cx="7620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01170" y="2663230"/>
            <a:ext cx="2654300" cy="1620441"/>
          </a:xfrm>
          <a:prstGeom prst="roundRect">
            <a:avLst>
              <a:gd name="adj" fmla="val 7446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10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25120" y="2923580"/>
            <a:ext cx="406400" cy="406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51080" y="3431580"/>
            <a:ext cx="155448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auth.users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5476012" y="3792240"/>
            <a:ext cx="9045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nova linha</a:t>
            </a:r>
            <a:endParaRPr lang="en-US" sz="1300" dirty="0"/>
          </a:p>
        </p:txBody>
      </p:sp>
      <p:pic>
        <p:nvPicPr>
          <p:cNvPr id="13" name="Image 3" descr="Light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810500" y="3112790"/>
            <a:ext cx="304800" cy="304800"/>
          </a:xfrm>
          <a:prstGeom prst="rect">
            <a:avLst/>
          </a:prstGeom>
        </p:spPr>
      </p:pic>
      <p:pic>
        <p:nvPicPr>
          <p:cNvPr id="14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81900" y="3468390"/>
            <a:ext cx="762000" cy="101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14220" y="3620790"/>
            <a:ext cx="1249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criar_perfil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8670330" y="2663230"/>
            <a:ext cx="2654300" cy="1620441"/>
          </a:xfrm>
          <a:prstGeom prst="roundRect">
            <a:avLst>
              <a:gd name="adj" fmla="val 7446"/>
            </a:avLst>
          </a:prstGeom>
          <a:solidFill>
            <a:srgbClr val="DCE7FA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7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794280" y="2923580"/>
            <a:ext cx="406400" cy="406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375626" y="3431580"/>
            <a:ext cx="124360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profiles</a:t>
            </a:r>
            <a:endParaRPr lang="en-US" sz="1700" dirty="0"/>
          </a:p>
        </p:txBody>
      </p:sp>
      <p:sp>
        <p:nvSpPr>
          <p:cNvPr id="19" name="Text 11"/>
          <p:cNvSpPr/>
          <p:nvPr/>
        </p:nvSpPr>
        <p:spPr>
          <a:xfrm>
            <a:off x="9210844" y="3792240"/>
            <a:ext cx="157317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linha com o nome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812800" y="5687120"/>
            <a:ext cx="5459214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Ninguém chama o trigger: ele dispara a cada INSERT em auth.users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RLS: a mesma consulta, resultados diferentes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3434259" cy="711200"/>
          </a:xfrm>
          <a:prstGeom prst="roundRect">
            <a:avLst>
              <a:gd name="adj" fmla="val 14286"/>
            </a:avLst>
          </a:prstGeom>
          <a:solidFill>
            <a:srgbClr val="1C243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select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* </a:t>
            </a:r>
            <a:r>
              <a:rPr lang="en-US" sz="16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6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carteiras;</a:t>
            </a:r>
            <a:endParaRPr lang="en-US" sz="16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50259" y="1869380"/>
            <a:ext cx="508000" cy="10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61459" y="1609030"/>
            <a:ext cx="3657600" cy="622300"/>
          </a:xfrm>
          <a:prstGeom prst="roundRect">
            <a:avLst>
              <a:gd name="adj" fmla="val 16327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 </a:t>
            </a:r>
            <a:r>
              <a:rPr lang="en-US" sz="1500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where</a:t>
            </a:r>
            <a:r>
              <a:rPr lang="en-US" sz="1500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user_id = auth.uid()</a:t>
            </a:r>
            <a:endParaRPr lang="en-US" sz="1500" dirty="0"/>
          </a:p>
        </p:txBody>
      </p:sp>
      <p:pic>
        <p:nvPicPr>
          <p:cNvPr id="6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580580"/>
            <a:ext cx="304800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9200" y="2595860"/>
            <a:ext cx="76307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 vê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12800" y="2986980"/>
            <a:ext cx="5130800" cy="1207591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9" name="Shape 5"/>
          <p:cNvSpPr/>
          <p:nvPr/>
        </p:nvSpPr>
        <p:spPr>
          <a:xfrm>
            <a:off x="5940425" y="2986980"/>
            <a:ext cx="0" cy="1207591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12800" y="4191397"/>
            <a:ext cx="51308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999680"/>
          <a:ext cx="5111750" cy="1188541"/>
        </p:xfrm>
        <a:graphic>
          <a:graphicData uri="http://schemas.openxmlformats.org/drawingml/2006/table">
            <a:tbl>
              <a:tblPr/>
              <a:tblGrid>
                <a:gridCol w="817880"/>
                <a:gridCol w="2964815"/>
                <a:gridCol w="1329055"/>
              </a:tblGrid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nome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dono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41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Teste 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Ana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42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Carteira de 30/09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Ana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48400" y="2580580"/>
            <a:ext cx="304800" cy="304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54800" y="2595860"/>
            <a:ext cx="100107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Bruno vê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6248400" y="2986980"/>
            <a:ext cx="5130800" cy="811411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5" name="Shape 9"/>
          <p:cNvSpPr/>
          <p:nvPr/>
        </p:nvSpPr>
        <p:spPr>
          <a:xfrm>
            <a:off x="11376025" y="2986980"/>
            <a:ext cx="0" cy="811411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248400" y="3795216"/>
            <a:ext cx="51308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1100" y="2999680"/>
          <a:ext cx="5111750" cy="792361"/>
        </p:xfrm>
        <a:graphic>
          <a:graphicData uri="http://schemas.openxmlformats.org/drawingml/2006/table">
            <a:tbl>
              <a:tblPr/>
              <a:tblGrid>
                <a:gridCol w="817880"/>
                <a:gridCol w="2964815"/>
                <a:gridCol w="1329055"/>
              </a:tblGrid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nome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dono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43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Minha carteira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Bruno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Storage: arquivos ficam fora das tabelas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235200"/>
            <a:ext cx="4051300" cy="2527300"/>
          </a:xfrm>
          <a:prstGeom prst="roundRect">
            <a:avLst>
              <a:gd name="adj" fmla="val 3769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pic>
        <p:nvPicPr>
          <p:cNvPr id="4" name="Image 0" descr="Clou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240665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73200" y="2457450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bucket avatares/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19200" y="3117850"/>
            <a:ext cx="3429000" cy="452041"/>
          </a:xfrm>
          <a:prstGeom prst="roundRect">
            <a:avLst>
              <a:gd name="adj" fmla="val 14047"/>
            </a:avLst>
          </a:prstGeom>
          <a:solidFill>
            <a:srgbClr val="FBE3D0"/>
          </a:solidFill>
          <a:ln/>
        </p:spPr>
        <p:txBody>
          <a:bodyPr wrap="square" lIns="108401" tIns="83001" rIns="13151" bIns="5760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9f3c…/avatar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19200" y="3879850"/>
            <a:ext cx="3429000" cy="452041"/>
          </a:xfrm>
          <a:prstGeom prst="roundRect">
            <a:avLst>
              <a:gd name="adj" fmla="val 14047"/>
            </a:avLst>
          </a:prstGeom>
          <a:solidFill>
            <a:srgbClr val="DCE7FA"/>
          </a:solidFill>
          <a:ln/>
        </p:spPr>
        <p:txBody>
          <a:bodyPr wrap="square" lIns="108401" tIns="83001" rIns="13151" bIns="5760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7b21…/avatar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21550" y="2933700"/>
            <a:ext cx="4051300" cy="1130300"/>
          </a:xfrm>
          <a:prstGeom prst="roundRect">
            <a:avLst>
              <a:gd name="adj" fmla="val 8427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18400" y="3028950"/>
            <a:ext cx="37934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profiles · Ana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18400" y="3435350"/>
            <a:ext cx="379349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avatar_url = …/9f3c…/avatar</a:t>
            </a:r>
            <a:endParaRPr lang="en-US" sz="130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7400" y="3257550"/>
            <a:ext cx="2768600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2800" y="5022850"/>
            <a:ext cx="4873823" cy="358080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Regra: a primeira pasta tem de ser o id de quem está logado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Recapitulando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1984970" cy="2279650"/>
          </a:xfrm>
          <a:prstGeom prst="roundRect">
            <a:avLst>
              <a:gd name="adj" fmla="val 4959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4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950" y="177413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6950" y="2205930"/>
            <a:ext cx="16738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96950" y="2525911"/>
            <a:ext cx="1673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linhas e colunas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59695" y="1567755"/>
            <a:ext cx="1984970" cy="2279650"/>
          </a:xfrm>
          <a:prstGeom prst="roundRect">
            <a:avLst>
              <a:gd name="adj" fmla="val 4959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8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40670" y="1774130"/>
            <a:ext cx="355600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40670" y="2205930"/>
            <a:ext cx="16738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Tipos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0670" y="2525911"/>
            <a:ext cx="1673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coluna, um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103416" y="1567755"/>
            <a:ext cx="1985070" cy="2279650"/>
          </a:xfrm>
          <a:prstGeom prst="roundRect">
            <a:avLst>
              <a:gd name="adj" fmla="val 4958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12" name="Image 2" descr="Ke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84391" y="1774130"/>
            <a:ext cx="355600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84391" y="2205930"/>
            <a:ext cx="16739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Chave primária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284391" y="2525911"/>
            <a:ext cx="1673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identifica a linha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247235" y="1567755"/>
            <a:ext cx="1984970" cy="2279650"/>
          </a:xfrm>
          <a:prstGeom prst="roundRect">
            <a:avLst>
              <a:gd name="adj" fmla="val 4959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16" name="Image 3" descr="Lin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28210" y="1774130"/>
            <a:ext cx="355600" cy="355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210" y="2205930"/>
            <a:ext cx="167382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Chave estrangeira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428210" y="2769691"/>
            <a:ext cx="1673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liga as tabelas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9390955" y="1567755"/>
            <a:ext cx="1985070" cy="2279650"/>
          </a:xfrm>
          <a:prstGeom prst="roundRect">
            <a:avLst>
              <a:gd name="adj" fmla="val 4958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0" name="Image 4" descr="Sear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71930" y="1774130"/>
            <a:ext cx="355600" cy="355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71930" y="2205930"/>
            <a:ext cx="16739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 e JOIN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9571930" y="2525911"/>
            <a:ext cx="1673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ler e combinar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815975" y="4006155"/>
            <a:ext cx="1984970" cy="2035870"/>
          </a:xfrm>
          <a:prstGeom prst="roundRect">
            <a:avLst>
              <a:gd name="adj" fmla="val 4959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4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6950" y="4212530"/>
            <a:ext cx="355600" cy="355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96950" y="4644330"/>
            <a:ext cx="16738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996950" y="4964311"/>
            <a:ext cx="1673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consulta com nome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2959695" y="4006155"/>
            <a:ext cx="1984970" cy="2035870"/>
          </a:xfrm>
          <a:prstGeom prst="roundRect">
            <a:avLst>
              <a:gd name="adj" fmla="val 4959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8" name="Image 6" descr="Cod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140670" y="4212530"/>
            <a:ext cx="355600" cy="355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140670" y="4644330"/>
            <a:ext cx="16738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Função e RPC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3140670" y="4964311"/>
            <a:ext cx="1673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regra no banco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5103416" y="4006155"/>
            <a:ext cx="1985070" cy="2035870"/>
          </a:xfrm>
          <a:prstGeom prst="roundRect">
            <a:avLst>
              <a:gd name="adj" fmla="val 4958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32" name="Image 7" descr="Lightni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284391" y="4212530"/>
            <a:ext cx="355600" cy="3556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284391" y="4644330"/>
            <a:ext cx="16739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</a:t>
            </a:r>
            <a:endParaRPr lang="en-US" sz="1600" dirty="0"/>
          </a:p>
        </p:txBody>
      </p:sp>
      <p:sp>
        <p:nvSpPr>
          <p:cNvPr id="34" name="Text 24"/>
          <p:cNvSpPr/>
          <p:nvPr/>
        </p:nvSpPr>
        <p:spPr>
          <a:xfrm>
            <a:off x="5284391" y="4964311"/>
            <a:ext cx="1673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reage a eventos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7247235" y="4006155"/>
            <a:ext cx="1984970" cy="2035870"/>
          </a:xfrm>
          <a:prstGeom prst="roundRect">
            <a:avLst>
              <a:gd name="adj" fmla="val 4959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36" name="Image 8" descr="Lock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28210" y="4212530"/>
            <a:ext cx="355600" cy="3556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28210" y="4644330"/>
            <a:ext cx="16738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RLS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7428210" y="4964311"/>
            <a:ext cx="1673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um, o seu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9390955" y="4006155"/>
            <a:ext cx="1985070" cy="2035870"/>
          </a:xfrm>
          <a:prstGeom prst="roundRect">
            <a:avLst>
              <a:gd name="adj" fmla="val 4958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40" name="Image 9" descr="Cloud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571930" y="4212530"/>
            <a:ext cx="355600" cy="35560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571930" y="4644330"/>
            <a:ext cx="16739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</a:t>
            </a:r>
            <a:endParaRPr lang="en-US" sz="1600" dirty="0"/>
          </a:p>
        </p:txBody>
      </p:sp>
      <p:sp>
        <p:nvSpPr>
          <p:cNvPr id="42" name="Text 30"/>
          <p:cNvSpPr/>
          <p:nvPr/>
        </p:nvSpPr>
        <p:spPr>
          <a:xfrm>
            <a:off x="9571930" y="4964311"/>
            <a:ext cx="1673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arquivos e links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5600" y="3606800"/>
            <a:ext cx="8940800" cy="381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10883392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Agora, ao vivo no Supabase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388467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05867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Criar o projeto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49600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667000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Tabelas e tipos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10634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428034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Chaves e relações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1766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89166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 iniciais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32800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50200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RLS e Storage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193834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711234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Views, função e trigger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2800" y="53340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Guia passo a passo: Monitor B3 — Construindo o banco no Supabase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la 1 — SQL e o banco do Monitor B3">
  <a:themeElements>
    <a:clrScheme name="Aula 1 — SQL e o banco do Monitor B3">
      <a:dk1>
        <a:srgbClr val="1C2433"/>
      </a:dk1>
      <a:lt1>
        <a:srgbClr val="F5F3EE"/>
      </a:lt1>
      <a:dk2>
        <a:srgbClr val="525862"/>
      </a:dk2>
      <a:lt2>
        <a:srgbClr val="DFDEDB"/>
      </a:lt2>
      <a:accent1>
        <a:srgbClr val="1F5FD1"/>
      </a:accent1>
      <a:accent2>
        <a:srgbClr val="B9520E"/>
      </a:accent2>
      <a:accent3>
        <a:srgbClr val="8DB6FF"/>
      </a:accent3>
      <a:accent4>
        <a:srgbClr val="FBE3D0"/>
      </a:accent4>
      <a:accent5>
        <a:srgbClr val="566070"/>
      </a:accent5>
      <a:accent6>
        <a:srgbClr val="DCE7FA"/>
      </a:accent6>
      <a:hlink>
        <a:srgbClr val="0563C1"/>
      </a:hlink>
      <a:folHlink>
        <a:srgbClr val="954F72"/>
      </a:folHlink>
    </a:clrScheme>
    <a:fontScheme name="Aula 1 — SQL e o banco do Monitor B3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 — SQL e o banco do Monitor B3</dc:title>
  <dc:subject/>
  <dc:creator/>
  <cp:lastModifiedBy/>
  <cp:revision>1</cp:revision>
  <dcterms:created xsi:type="dcterms:W3CDTF">2026-10-02T19:36:09Z</dcterms:created>
  <dcterms:modified xsi:type="dcterms:W3CDTF">2026-10-02T19:36:09Z</dcterms:modified>
</cp:coreProperties>
</file>