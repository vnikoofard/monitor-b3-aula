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Hoje: o Streamlit, a ferramenta que usamos no frontend do Monitor B3. Primeiro os conceitos num exemplo simples; no final, uma ponte com o banco que construímos na Aula 1. Na Aula 4, o app completo e o pipeline. O deploy usa o repositório do GitHub da Aula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 é uma biblioteca Python: escrevemos um script comum, e ela transforma cada comando st.alguma_coisa num pedaço de página web. Muito usado para painéis de dados e protótipos de ML. É o que usamos no frontend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st.* vira um elemento na página, na ordem do script. text_input devolve o que o usuário digitou, e o valor já pode ser usado na linha seguinte. O comando streamlit run abre o app no navegador, em localhost:8501. Ao vivo: rodar e digitar um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 é um DataFrame do pandas. Uma linha para cada visualização: métrica com variação, gráfico de linha e tabela interativa, que permite ordenar clicando no cabeçalho. Valores ilustrativos.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widget devolve um valor: o botão devolve True no clique, o selectbox devolve a opção escolhida, e assim por diante. Esses são exatamente os widgets do app do projeto: montar carteira, filtros e upload da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mais importante da aula. Quem entende a reexecução entende o Streamlit.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existe função de callback para cada botão: a cada interação, o Streamlit simplesmente roda o script inteiro de novo, e os widgets devolvem os valores atuais. Vantagem: o código fica simples, de cima para baixo. Consequência: variáveis comuns são recriadas a cada execução, como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para a turma antes de mostrar o resultado: o que aparece depois de três cliques? Resposta: sempre 1. A cada clique, o script roda de novo desde contador = 0. Precisamos de um lugar que sobreviva às reexecuções.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session_state é um dicionário que o Streamlit guarda entre as reexecuções, separado para cada aba do navegador. O if na primeira linha garante que o contador só é zerado na primeira vez. No projeto, é aqui que fica a conexão com o Supabase e o usuário logado.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formulário, cada campo alterado dispara uma reexecução. Dentro de um st.form, nada roda até o clique no botão de envio: o script executa uma vez, com todos os valores juntos. As telas de login e de montar carteira do projeto usam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script roda a cada clique, uma consulta lenta seria repetida a cada clique. O decorator guarda o resultado de cada combinação de argumentos. ttl define a validade, para os dados não ficarem velhos para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cache_data serve para dados que podem ser iguais para todos. cache_resource guarda um objeto único, compartilhado por todos os visitantes do app. É o erro mais perigoso deste tipo de app: guardar a conexão com o login de um usuário num lugar compartilhado. Voltaremos a isso na Aula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bloco: como um script vira um app de verdade, com páginas, chaves protegidas e endereço na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página é um arquivo .py. O arquivo principal lista as páginas com st.Page, e st.navigation monta o menu lateral. A página escolhida roda dentro do arquivo principal. É a estrutura do app do Monitor B3.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Chaves e senhas nunca ficam no código. Na máquina, ficam no arquivo .streamlit/secrets.toml, que está no .gitignore. Na nuvem, num campo do painel do app. O código é o mesmo nos dois casos: st.secrets. O modelo .example mostra quais chaves preencher, com valores falsos.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Community Cloud lê o repositório do GitHub, instala as bibliotecas do requirements.txt e publica o app. A cada push, ele atualiza. No plano gratuito, o app hiberna após 12 horas sem visitas; antes da aula, abra o app alguns minutos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banco da Aula 1, lido pelo Streamlit. Repare na linha do login: sem ela, a consulta volta vazia, porque as políticas de RLS só liberam leitura a usuários logados. É a prova de que a segurança está no banco. Na Aula 4, o app completo faz o login com a tela de entrar.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oito conceitos da aula. O mais importante: a reexecução, e o que sobrevive a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parte prática: começar do zero com um app.py, crescer até ler o banco da Aula 1 e publicar no Community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47200" y="812800"/>
            <a:ext cx="1219200" cy="121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8DB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AULA 3 DE 4 · FRONTEND EM PYTHON</a:t>
            </a:r>
            <a:endParaRPr lang="en-US" sz="13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779713"/>
            <a:ext cx="850265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Introdução ao Streamlit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12800" y="3777853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app web escrito só em Python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5822355"/>
            <a:ext cx="1088339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Prof. Vahid Nikoofard · FAT-UERJ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é o Streamlit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95350" y="2571750"/>
            <a:ext cx="2781300" cy="1803301"/>
          </a:xfrm>
          <a:prstGeom prst="roundRect">
            <a:avLst>
              <a:gd name="adj" fmla="val 669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4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32000" y="2857500"/>
            <a:ext cx="508000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919" y="3467100"/>
            <a:ext cx="91416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app.py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846659" y="3858220"/>
            <a:ext cx="87868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Python</a:t>
            </a:r>
            <a:endParaRPr lang="en-US" sz="1300" dirty="0"/>
          </a:p>
        </p:txBody>
      </p:sp>
      <p:pic>
        <p:nvPicPr>
          <p:cNvPr id="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3422650"/>
            <a:ext cx="609600" cy="101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05350" y="2571750"/>
            <a:ext cx="2781300" cy="1803301"/>
          </a:xfrm>
          <a:prstGeom prst="roundRect">
            <a:avLst>
              <a:gd name="adj" fmla="val 6691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9" name="Image 2" descr="Pla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42000" y="2857500"/>
            <a:ext cx="508000" cy="50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26367" y="3467100"/>
            <a:ext cx="173926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 run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4821674" y="3858220"/>
            <a:ext cx="25486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CE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Streamlit cuida do servidor</a:t>
            </a:r>
            <a:endParaRPr lang="en-US" sz="1300" dirty="0"/>
          </a:p>
        </p:txBody>
      </p:sp>
      <p:pic>
        <p:nvPicPr>
          <p:cNvPr id="1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96200" y="3422650"/>
            <a:ext cx="609600" cy="1016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515350" y="2571750"/>
            <a:ext cx="2781300" cy="1803301"/>
          </a:xfrm>
          <a:prstGeom prst="roundRect">
            <a:avLst>
              <a:gd name="adj" fmla="val 669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14" name="Image 4" descr="Glob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52000" y="2857500"/>
            <a:ext cx="508000" cy="508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00922" y="3467100"/>
            <a:ext cx="141005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navegador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8916233" y="3858220"/>
            <a:ext cx="19795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app web interativo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3646488" y="5687120"/>
            <a:ext cx="1100336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HTML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848423" y="5687120"/>
            <a:ext cx="1478657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JavaScript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428680" y="5687120"/>
            <a:ext cx="2116733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configurar servidor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primeiro app: quatro linhas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354560"/>
            <a:ext cx="549402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5660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app.py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764730"/>
            <a:ext cx="5334000" cy="1835150"/>
          </a:xfrm>
          <a:prstGeom prst="roundRect">
            <a:avLst>
              <a:gd name="adj" fmla="val 5536"/>
            </a:avLst>
          </a:prstGeom>
          <a:solidFill>
            <a:srgbClr val="1C2433"/>
          </a:solidFill>
          <a:ln/>
        </p:spPr>
        <p:txBody>
          <a:bodyPr wrap="square" lIns="224242" tIns="173442" rIns="79462" bIns="1480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streamlit </a:t>
            </a:r>
            <a:r>
              <a:rPr lang="en-US" sz="15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st.title(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"Olá, turma"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nome = st.text_input(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"Seu nome"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st.write(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f"Bem-vindo, {nome}!"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752280"/>
            <a:ext cx="5334000" cy="502841"/>
          </a:xfrm>
          <a:prstGeom prst="roundRect">
            <a:avLst>
              <a:gd name="adj" fmla="val 15154"/>
            </a:avLst>
          </a:prstGeom>
          <a:solidFill>
            <a:srgbClr val="2E3A4E"/>
          </a:solidFill>
          <a:ln/>
        </p:spPr>
        <p:txBody>
          <a:bodyPr wrap="square" lIns="155482" tIns="104682" rIns="6130" bIns="792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streamlit run app.py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08750" y="2608659"/>
            <a:ext cx="4813300" cy="2392462"/>
          </a:xfrm>
          <a:prstGeom prst="roundRect">
            <a:avLst>
              <a:gd name="adj" fmla="val 398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15100" y="2615009"/>
            <a:ext cx="4800600" cy="330200"/>
          </a:xfrm>
          <a:custGeom>
            <a:avLst/>
            <a:gdLst/>
            <a:ahLst/>
            <a:cxnLst/>
            <a:rect l="l" t="t" r="r" b="b"/>
            <a:pathLst>
              <a:path w="4800600" h="330200">
                <a:moveTo>
                  <a:pt x="0" y="88900"/>
                </a:moveTo>
                <a:arcTo hR="88900" wR="88900" stAng="10800000" swAng="5400000"/>
                <a:lnTo>
                  <a:pt x="4711700" y="0"/>
                </a:lnTo>
                <a:arcTo hR="88900" wR="88900" stAng="16200000" swAng="5400000"/>
                <a:lnTo>
                  <a:pt x="480060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9E5DC"/>
          </a:solidFill>
          <a:ln/>
        </p:spPr>
      </p:sp>
      <p:pic>
        <p:nvPicPr>
          <p:cNvPr id="8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42100" y="2729309"/>
            <a:ext cx="101600" cy="101600"/>
          </a:xfrm>
          <a:prstGeom prst="rect">
            <a:avLst/>
          </a:prstGeom>
        </p:spPr>
      </p:pic>
      <p:pic>
        <p:nvPicPr>
          <p:cNvPr id="9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07200" y="2729309"/>
            <a:ext cx="101600" cy="101600"/>
          </a:xfrm>
          <a:prstGeom prst="rect">
            <a:avLst/>
          </a:prstGeom>
        </p:spPr>
      </p:pic>
      <p:pic>
        <p:nvPicPr>
          <p:cNvPr id="10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72300" y="2729309"/>
            <a:ext cx="101600" cy="10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39000" y="2673449"/>
            <a:ext cx="1242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localhost:8501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743700" y="3148409"/>
            <a:ext cx="447370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Olá, turma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743700" y="3666530"/>
            <a:ext cx="44737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Seu nome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750050" y="4013200"/>
            <a:ext cx="4330700" cy="396180"/>
          </a:xfrm>
          <a:prstGeom prst="roundRect">
            <a:avLst>
              <a:gd name="adj" fmla="val 14425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91211" tIns="65811" rIns="0" bIns="4041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743700" y="4542730"/>
            <a:ext cx="447370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Bem-vindo, Ana!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Mostrar dados: tabela, gráfico e métrica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601516"/>
            <a:ext cx="5080000" cy="2406650"/>
          </a:xfrm>
          <a:prstGeom prst="roundRect">
            <a:avLst>
              <a:gd name="adj" fmla="val 4222"/>
            </a:avLst>
          </a:prstGeom>
          <a:solidFill>
            <a:srgbClr val="1C2433"/>
          </a:solidFill>
          <a:ln/>
        </p:spPr>
        <p:txBody>
          <a:bodyPr wrap="square" lIns="224242" tIns="173442" rIns="87082" bIns="1480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st.metric(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"Último preço"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"R$ 38,45"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"+0,9%"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st.line_chart(df, x=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"data"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y=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"fechamento"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st.dataframe(df)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54750" y="2109490"/>
            <a:ext cx="4813300" cy="3390702"/>
          </a:xfrm>
          <a:prstGeom prst="roundRect">
            <a:avLst>
              <a:gd name="adj" fmla="val 280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1100" y="2115840"/>
            <a:ext cx="4800600" cy="330200"/>
          </a:xfrm>
          <a:custGeom>
            <a:avLst/>
            <a:gdLst/>
            <a:ahLst/>
            <a:cxnLst/>
            <a:rect l="l" t="t" r="r" b="b"/>
            <a:pathLst>
              <a:path w="4800600" h="330200">
                <a:moveTo>
                  <a:pt x="0" y="88900"/>
                </a:moveTo>
                <a:arcTo hR="88900" wR="88900" stAng="10800000" swAng="5400000"/>
                <a:lnTo>
                  <a:pt x="4711700" y="0"/>
                </a:lnTo>
                <a:arcTo hR="88900" wR="88900" stAng="16200000" swAng="5400000"/>
                <a:lnTo>
                  <a:pt x="480060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9E5DC"/>
          </a:solidFill>
          <a:ln/>
        </p:spPr>
      </p:sp>
      <p:pic>
        <p:nvPicPr>
          <p:cNvPr id="6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88100" y="2230140"/>
            <a:ext cx="101600" cy="101600"/>
          </a:xfrm>
          <a:prstGeom prst="rect">
            <a:avLst/>
          </a:prstGeom>
        </p:spPr>
      </p:pic>
      <p:pic>
        <p:nvPicPr>
          <p:cNvPr id="7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53200" y="2230140"/>
            <a:ext cx="101600" cy="101600"/>
          </a:xfrm>
          <a:prstGeom prst="rect">
            <a:avLst/>
          </a:prstGeom>
        </p:spPr>
      </p:pic>
      <p:pic>
        <p:nvPicPr>
          <p:cNvPr id="8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18300" y="2230140"/>
            <a:ext cx="101600" cy="10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85000" y="2174280"/>
            <a:ext cx="1242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localhost:8501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489700" y="2649240"/>
            <a:ext cx="44737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Último preço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89700" y="2887960"/>
            <a:ext cx="447370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R$ 38,45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489700" y="3340001"/>
            <a:ext cx="44737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↑ +0,9%</a:t>
            </a:r>
            <a:endParaRPr lang="en-US" sz="1200" dirty="0"/>
          </a:p>
        </p:txBody>
      </p:sp>
      <p:pic>
        <p:nvPicPr>
          <p:cNvPr id="13" name="Image 3" descr="gráfico de linha do fechamento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89700" y="3680321"/>
            <a:ext cx="3937000" cy="1270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89700" y="5077321"/>
            <a:ext cx="44737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 tabela interativa de st.dataframe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Widgets: o usuário interage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3414117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3300" y="2291060"/>
            <a:ext cx="1382911" cy="370780"/>
          </a:xfrm>
          <a:prstGeom prst="roundRect">
            <a:avLst>
              <a:gd name="adj" fmla="val 15413"/>
            </a:avLst>
          </a:prstGeom>
          <a:solidFill>
            <a:srgbClr val="B9520E"/>
          </a:solidFill>
          <a:ln w="12700">
            <a:solidFill>
              <a:srgbClr val="B9520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Gerar carteira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950" y="3331170"/>
            <a:ext cx="3143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st.button("Gerar carteira")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8842" y="1567755"/>
            <a:ext cx="3414216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17" y="2127250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6167" y="2423120"/>
            <a:ext cx="3039566" cy="396180"/>
          </a:xfrm>
          <a:prstGeom prst="roundRect">
            <a:avLst>
              <a:gd name="adj" fmla="val 14425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91211" tIns="65811" rIns="6501" bIns="4041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Bancos 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69817" y="3331170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st.selectbox("Setor", setores)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61809" y="1567755"/>
            <a:ext cx="3414216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2784" y="2242741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Número de ações: 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2784" y="2595761"/>
            <a:ext cx="952500" cy="50800"/>
          </a:xfrm>
          <a:prstGeom prst="roundRect">
            <a:avLst>
              <a:gd name="adj" fmla="val 50000"/>
            </a:avLst>
          </a:prstGeom>
          <a:solidFill>
            <a:srgbClr val="B9520E"/>
          </a:solidFill>
          <a:ln/>
        </p:spPr>
      </p:sp>
      <p:pic>
        <p:nvPicPr>
          <p:cNvPr id="1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95284" y="2532261"/>
            <a:ext cx="177800" cy="177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273084" y="2595761"/>
            <a:ext cx="952500" cy="50800"/>
          </a:xfrm>
          <a:prstGeom prst="roundRect">
            <a:avLst>
              <a:gd name="adj" fmla="val 50000"/>
            </a:avLst>
          </a:prstGeom>
          <a:solidFill>
            <a:srgbClr val="D8D3C8"/>
          </a:solidFill>
          <a:ln/>
        </p:spPr>
      </p:sp>
      <p:sp>
        <p:nvSpPr>
          <p:cNvPr id="15" name="Text 12"/>
          <p:cNvSpPr/>
          <p:nvPr/>
        </p:nvSpPr>
        <p:spPr>
          <a:xfrm>
            <a:off x="8142784" y="3331170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st.slider("Número", 1, 20, 5)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5975" y="3884216"/>
            <a:ext cx="3414117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6950" y="4443710"/>
            <a:ext cx="3143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3300" y="4739580"/>
            <a:ext cx="3039467" cy="396180"/>
          </a:xfrm>
          <a:prstGeom prst="roundRect">
            <a:avLst>
              <a:gd name="adj" fmla="val 14425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91211" tIns="65811" rIns="6504" bIns="4041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Minha carteira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96950" y="5647730"/>
            <a:ext cx="3143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st.text_input("Nome")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88842" y="3884216"/>
            <a:ext cx="3414216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69817" y="4443710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Quantidade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6167" y="4739580"/>
            <a:ext cx="3039566" cy="396180"/>
          </a:xfrm>
          <a:prstGeom prst="roundRect">
            <a:avLst>
              <a:gd name="adj" fmla="val 14425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91211" tIns="65811" rIns="6501" bIns="4041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5 − +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69817" y="5647730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st.number_input("Qtd", 1, 20)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61809" y="3884216"/>
            <a:ext cx="3414216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2784" y="4443710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Foto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149134" y="4739580"/>
            <a:ext cx="3039566" cy="396180"/>
          </a:xfrm>
          <a:prstGeom prst="roundRect">
            <a:avLst>
              <a:gd name="adj" fmla="val 14425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91211" tIns="65811" rIns="6501" bIns="4041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Arraste um arquivo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142784" y="5647730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st.file_uploader("Foto")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790678"/>
            <a:ext cx="9810750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segredo: o script roda de novo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753795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reexecução · session_state · forms · cache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cada interação, o script roda do início ao fim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20130"/>
            <a:ext cx="3543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1741091"/>
            <a:ext cx="2642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94520" y="1728391"/>
            <a:ext cx="174771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usuário mexe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94520" y="2038251"/>
            <a:ext cx="15072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clica, digita, escolhe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29550" y="1520130"/>
            <a:ext cx="3543300" cy="939800"/>
          </a:xfrm>
          <a:prstGeom prst="roundRect">
            <a:avLst>
              <a:gd name="adj" fmla="val 10135"/>
            </a:avLst>
          </a:prstGeom>
          <a:solidFill>
            <a:srgbClr val="DCE7FA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39100" y="1741091"/>
            <a:ext cx="2642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404920" y="1728391"/>
            <a:ext cx="268343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Streamlit roda app.py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04920" y="2038251"/>
            <a:ext cx="2303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 primeira à última linha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29550" y="4631630"/>
            <a:ext cx="3543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39100" y="4852591"/>
            <a:ext cx="2642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404920" y="4839891"/>
            <a:ext cx="205132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st.* desenha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04920" y="5149751"/>
            <a:ext cx="17607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os valores novos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9150" y="4631630"/>
            <a:ext cx="3543300" cy="939800"/>
          </a:xfrm>
          <a:prstGeom prst="roundRect">
            <a:avLst>
              <a:gd name="adj" fmla="val 10135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" y="4852591"/>
            <a:ext cx="2642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94520" y="4839891"/>
            <a:ext cx="171342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Tela atualizada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94520" y="5149751"/>
            <a:ext cx="14786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navegador</a:t>
            </a:r>
            <a:endParaRPr lang="en-US" sz="1200" dirty="0"/>
          </a:p>
        </p:txBody>
      </p:sp>
      <p:pic>
        <p:nvPicPr>
          <p:cNvPr id="1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05300" y="1926530"/>
            <a:ext cx="3581400" cy="127000"/>
          </a:xfrm>
          <a:prstGeom prst="rect">
            <a:avLst/>
          </a:prstGeom>
        </p:spPr>
      </p:pic>
      <p:pic>
        <p:nvPicPr>
          <p:cNvPr id="2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37700" y="2402780"/>
            <a:ext cx="127000" cy="2286000"/>
          </a:xfrm>
          <a:prstGeom prst="rect">
            <a:avLst/>
          </a:prstGeom>
        </p:spPr>
      </p:pic>
      <p:pic>
        <p:nvPicPr>
          <p:cNvPr id="2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05300" y="5038030"/>
            <a:ext cx="3581400" cy="127000"/>
          </a:xfrm>
          <a:prstGeom prst="rect">
            <a:avLst/>
          </a:prstGeom>
        </p:spPr>
      </p:pic>
      <p:pic>
        <p:nvPicPr>
          <p:cNvPr id="2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527300" y="2402780"/>
            <a:ext cx="127000" cy="2286000"/>
          </a:xfrm>
          <a:prstGeom prst="rect">
            <a:avLst/>
          </a:prstGeom>
        </p:spPr>
      </p:pic>
      <p:pic>
        <p:nvPicPr>
          <p:cNvPr id="23" name="Image 4" descr="Activit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91200" y="3101280"/>
            <a:ext cx="609600" cy="609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87900" y="3799780"/>
            <a:ext cx="2616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cada clique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problema: variáveis comuns esquecem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744391"/>
            <a:ext cx="4064000" cy="2120900"/>
          </a:xfrm>
          <a:prstGeom prst="roundRect">
            <a:avLst>
              <a:gd name="adj" fmla="val 4790"/>
            </a:avLst>
          </a:prstGeom>
          <a:solidFill>
            <a:srgbClr val="1C2433"/>
          </a:solidFill>
          <a:ln/>
        </p:spPr>
        <p:txBody>
          <a:bodyPr wrap="square" lIns="224242" tIns="173442" rIns="117562" bIns="1480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contador = 0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st.button(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"+1"</a:t>
            </a: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contador += 1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st.write(contador)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38750" y="2822575"/>
            <a:ext cx="1638300" cy="1297880"/>
          </a:xfrm>
          <a:prstGeom prst="roundRect">
            <a:avLst>
              <a:gd name="adj" fmla="val 733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96079" y="3006725"/>
            <a:ext cx="7235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1º clique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93246" y="3296245"/>
            <a:ext cx="329208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042150" y="2822575"/>
            <a:ext cx="1638300" cy="1297880"/>
          </a:xfrm>
          <a:prstGeom prst="roundRect">
            <a:avLst>
              <a:gd name="adj" fmla="val 733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9479" y="3006725"/>
            <a:ext cx="7235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2º clique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96646" y="3296245"/>
            <a:ext cx="329208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8845550" y="2822575"/>
            <a:ext cx="1638300" cy="1297880"/>
          </a:xfrm>
          <a:prstGeom prst="roundRect">
            <a:avLst>
              <a:gd name="adj" fmla="val 733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02879" y="3006725"/>
            <a:ext cx="7235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3º clique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0046" y="3296245"/>
            <a:ext cx="329208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232400" y="4279205"/>
            <a:ext cx="633120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cada clique o script recomeça, e a primeira linha volta o contador para 0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st.session_state: a memória de cada usuário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924050"/>
            <a:ext cx="4826000" cy="2273300"/>
          </a:xfrm>
          <a:prstGeom prst="roundRect">
            <a:avLst>
              <a:gd name="adj" fmla="val 4469"/>
            </a:avLst>
          </a:prstGeom>
          <a:solidFill>
            <a:srgbClr val="1C2433"/>
          </a:solidFill>
          <a:ln/>
        </p:spPr>
        <p:txBody>
          <a:bodyPr wrap="square" lIns="224242" tIns="173442" rIns="94702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4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"contador"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not in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st.session_state: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st.session_state.contador = 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st.button(</a:t>
            </a:r>
            <a:r>
              <a:rPr lang="en-US" sz="14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"+1"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st.session_state.contador += 1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st.write(st.session_state.contador)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9150" y="4381500"/>
            <a:ext cx="1460500" cy="1297880"/>
          </a:xfrm>
          <a:prstGeom prst="roundRect">
            <a:avLst>
              <a:gd name="adj" fmla="val 733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7579" y="4565650"/>
            <a:ext cx="7235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1º clique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84746" y="4855170"/>
            <a:ext cx="329208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444750" y="4381500"/>
            <a:ext cx="1460500" cy="1297880"/>
          </a:xfrm>
          <a:prstGeom prst="roundRect">
            <a:avLst>
              <a:gd name="adj" fmla="val 733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3179" y="4565650"/>
            <a:ext cx="7235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2º clique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0346" y="4855170"/>
            <a:ext cx="329208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070350" y="4381500"/>
            <a:ext cx="1460500" cy="1297880"/>
          </a:xfrm>
          <a:prstGeom prst="roundRect">
            <a:avLst>
              <a:gd name="adj" fmla="val 733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8779" y="4565650"/>
            <a:ext cx="7235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3º clique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35946" y="4855170"/>
            <a:ext cx="329208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000750" y="2617887"/>
            <a:ext cx="5372100" cy="916781"/>
          </a:xfrm>
          <a:prstGeom prst="roundRect">
            <a:avLst>
              <a:gd name="adj" fmla="val 10390"/>
            </a:avLst>
          </a:prstGeom>
          <a:solidFill>
            <a:srgbClr val="DCE7FA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4900" y="2802037"/>
            <a:ext cx="5153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aba da Ana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4900" y="3101677"/>
            <a:ext cx="5153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contador = 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00750" y="3699768"/>
            <a:ext cx="5372100" cy="916781"/>
          </a:xfrm>
          <a:prstGeom prst="roundRect">
            <a:avLst>
              <a:gd name="adj" fmla="val 10390"/>
            </a:avLst>
          </a:prstGeom>
          <a:solidFill>
            <a:srgbClr val="DCE7FA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4900" y="3883918"/>
            <a:ext cx="5153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aba do Bruno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84900" y="4183559"/>
            <a:ext cx="5153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contador =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94400" y="4775299"/>
            <a:ext cx="554634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aba do navegador tem o seu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st.form: um envio, uma execução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611041"/>
            <a:ext cx="4191000" cy="2387600"/>
          </a:xfrm>
          <a:prstGeom prst="roundRect">
            <a:avLst>
              <a:gd name="adj" fmla="val 4255"/>
            </a:avLst>
          </a:prstGeom>
          <a:solidFill>
            <a:srgbClr val="1C2433"/>
          </a:solidFill>
          <a:ln/>
        </p:spPr>
        <p:txBody>
          <a:bodyPr wrap="square" lIns="224242" tIns="173442" rIns="113752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with</a:t>
            </a: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st.form(</a:t>
            </a:r>
            <a:r>
              <a:rPr lang="en-US" sz="13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"carteira"</a:t>
            </a: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nome = st.text_input(</a:t>
            </a:r>
            <a:r>
              <a:rPr lang="en-US" sz="13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"Nome"</a:t>
            </a: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 = st.slider(</a:t>
            </a:r>
            <a:r>
              <a:rPr lang="en-US" sz="13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"Ações"</a:t>
            </a: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1, 20, 5)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ok = st.form_submit_button(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3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"Gerar"</a:t>
            </a: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ok: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montar(nome, n)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59400" y="2578100"/>
            <a:ext cx="62003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65750" y="2952750"/>
            <a:ext cx="1926134" cy="353020"/>
          </a:xfrm>
          <a:prstGeom prst="roundRect">
            <a:avLst>
              <a:gd name="adj" fmla="val 1618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39396" tIns="53111" rIns="39396" bIns="2771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 nome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79133" y="3388320"/>
            <a:ext cx="499368" cy="264120"/>
          </a:xfrm>
          <a:custGeom>
            <a:avLst/>
            <a:gdLst/>
            <a:ahLst/>
            <a:cxnLst/>
            <a:rect l="l" t="t" r="r" b="b"/>
            <a:pathLst>
              <a:path w="499368" h="264120">
                <a:moveTo>
                  <a:pt x="132060" y="0"/>
                </a:moveTo>
                <a:lnTo>
                  <a:pt x="367308" y="0"/>
                </a:lnTo>
                <a:arcTo hR="132060" wR="132060" stAng="16200000" swAng="5400000"/>
                <a:lnTo>
                  <a:pt x="499368" y="132060"/>
                </a:lnTo>
                <a:arcTo hR="132060" wR="132060" stAng="0" swAng="5400000"/>
                <a:lnTo>
                  <a:pt x="132060" y="264120"/>
                </a:lnTo>
                <a:arcTo hR="132060" wR="132060" stAng="5400000" swAng="5400000"/>
                <a:lnTo>
                  <a:pt x="0" y="132060"/>
                </a:lnTo>
                <a:arcTo hR="132060" wR="132060" stAng="10800000" swAng="5400000"/>
                <a:close/>
              </a:path>
            </a:pathLst>
          </a:custGeom>
          <a:solidFill>
            <a:srgbClr val="B9520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184" y="2952750"/>
            <a:ext cx="1926233" cy="353020"/>
          </a:xfrm>
          <a:prstGeom prst="roundRect">
            <a:avLst>
              <a:gd name="adj" fmla="val 1618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39394" tIns="53111" rIns="39394" bIns="2771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ajusta slider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19566" y="3388320"/>
            <a:ext cx="499368" cy="264120"/>
          </a:xfrm>
          <a:custGeom>
            <a:avLst/>
            <a:gdLst/>
            <a:ahLst/>
            <a:cxnLst/>
            <a:rect l="l" t="t" r="r" b="b"/>
            <a:pathLst>
              <a:path w="499368" h="264120">
                <a:moveTo>
                  <a:pt x="132060" y="0"/>
                </a:moveTo>
                <a:lnTo>
                  <a:pt x="367308" y="0"/>
                </a:lnTo>
                <a:arcTo hR="132060" wR="132060" stAng="16200000" swAng="5400000"/>
                <a:lnTo>
                  <a:pt x="499368" y="132060"/>
                </a:lnTo>
                <a:arcTo hR="132060" wR="132060" stAng="0" swAng="5400000"/>
                <a:lnTo>
                  <a:pt x="132060" y="264120"/>
                </a:lnTo>
                <a:arcTo hR="132060" wR="132060" stAng="5400000" swAng="5400000"/>
                <a:lnTo>
                  <a:pt x="0" y="132060"/>
                </a:lnTo>
                <a:arcTo hR="132060" wR="132060" stAng="10800000" swAng="5400000"/>
                <a:close/>
              </a:path>
            </a:pathLst>
          </a:custGeom>
          <a:solidFill>
            <a:srgbClr val="B9520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46716" y="2952750"/>
            <a:ext cx="1926134" cy="353020"/>
          </a:xfrm>
          <a:prstGeom prst="roundRect">
            <a:avLst>
              <a:gd name="adj" fmla="val 1618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39396" tIns="53111" rIns="39396" bIns="2771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clica botão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99" y="3388320"/>
            <a:ext cx="499368" cy="264120"/>
          </a:xfrm>
          <a:custGeom>
            <a:avLst/>
            <a:gdLst/>
            <a:ahLst/>
            <a:cxnLst/>
            <a:rect l="l" t="t" r="r" b="b"/>
            <a:pathLst>
              <a:path w="499368" h="264120">
                <a:moveTo>
                  <a:pt x="132060" y="0"/>
                </a:moveTo>
                <a:lnTo>
                  <a:pt x="367308" y="0"/>
                </a:lnTo>
                <a:arcTo hR="132060" wR="132060" stAng="16200000" swAng="5400000"/>
                <a:lnTo>
                  <a:pt x="499368" y="132060"/>
                </a:lnTo>
                <a:arcTo hR="132060" wR="132060" stAng="0" swAng="5400000"/>
                <a:lnTo>
                  <a:pt x="132060" y="264120"/>
                </a:lnTo>
                <a:arcTo hR="132060" wR="132060" stAng="5400000" swAng="5400000"/>
                <a:lnTo>
                  <a:pt x="0" y="132060"/>
                </a:lnTo>
                <a:arcTo hR="132060" wR="132060" stAng="10800000" swAng="5400000"/>
                <a:close/>
              </a:path>
            </a:pathLst>
          </a:custGeom>
          <a:solidFill>
            <a:srgbClr val="B9520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59400" y="3957241"/>
            <a:ext cx="62003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form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65750" y="4331891"/>
            <a:ext cx="1926134" cy="353020"/>
          </a:xfrm>
          <a:prstGeom prst="roundRect">
            <a:avLst>
              <a:gd name="adj" fmla="val 1618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39396" tIns="53111" rIns="39396" bIns="2771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 nome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3935" y="4792861"/>
            <a:ext cx="1697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06184" y="4331891"/>
            <a:ext cx="1926233" cy="353020"/>
          </a:xfrm>
          <a:prstGeom prst="roundRect">
            <a:avLst>
              <a:gd name="adj" fmla="val 1618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39394" tIns="53111" rIns="39394" bIns="2771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ajusta slider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4369" y="4792861"/>
            <a:ext cx="1697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46716" y="4331891"/>
            <a:ext cx="1926134" cy="353020"/>
          </a:xfrm>
          <a:prstGeom prst="roundRect">
            <a:avLst>
              <a:gd name="adj" fmla="val 1618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39396" tIns="53111" rIns="39396" bIns="2771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clica Gerar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60099" y="4767461"/>
            <a:ext cx="499368" cy="264120"/>
          </a:xfrm>
          <a:custGeom>
            <a:avLst/>
            <a:gdLst/>
            <a:ahLst/>
            <a:cxnLst/>
            <a:rect l="l" t="t" r="r" b="b"/>
            <a:pathLst>
              <a:path w="499368" h="264120">
                <a:moveTo>
                  <a:pt x="132060" y="0"/>
                </a:moveTo>
                <a:lnTo>
                  <a:pt x="367308" y="0"/>
                </a:lnTo>
                <a:arcTo hR="132060" wR="132060" stAng="16200000" swAng="5400000"/>
                <a:lnTo>
                  <a:pt x="499368" y="132060"/>
                </a:lnTo>
                <a:arcTo hR="132060" wR="132060" stAng="0" swAng="5400000"/>
                <a:lnTo>
                  <a:pt x="132060" y="264120"/>
                </a:lnTo>
                <a:arcTo hR="132060" wR="132060" stAng="5400000" swAng="5400000"/>
                <a:lnTo>
                  <a:pt x="0" y="132060"/>
                </a:lnTo>
                <a:arcTo hR="132060" wR="132060" stAng="10800000" swAng="5400000"/>
                <a:close/>
              </a:path>
            </a:pathLst>
          </a:custGeom>
          <a:solidFill>
            <a:srgbClr val="B9520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roda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Cache: não refazer o trabalho caro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668191"/>
            <a:ext cx="4445000" cy="2273300"/>
          </a:xfrm>
          <a:prstGeom prst="roundRect">
            <a:avLst>
              <a:gd name="adj" fmla="val 4469"/>
            </a:avLst>
          </a:prstGeom>
          <a:solidFill>
            <a:srgbClr val="1C2433"/>
          </a:solidFill>
          <a:ln/>
        </p:spPr>
        <p:txBody>
          <a:bodyPr wrap="square" lIns="224242" tIns="173442" rIns="106132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@st.cache_data(ttl=600)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carregar_precos(ticker):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8A93A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consulta lenta ao banco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...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df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 = carregar_precos(</a:t>
            </a:r>
            <a:r>
              <a:rPr lang="en-US" sz="14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"PETR4"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19750" y="2562920"/>
            <a:ext cx="5753100" cy="904180"/>
          </a:xfrm>
          <a:prstGeom prst="roundRect">
            <a:avLst>
              <a:gd name="adj" fmla="val 10534"/>
            </a:avLst>
          </a:prstGeom>
          <a:solidFill>
            <a:srgbClr val="FFFDF8"/>
          </a:solidFill>
          <a:ln w="12700">
            <a:solidFill>
              <a:srgbClr val="B9520E"/>
            </a:solidFill>
            <a:prstDash val="solid"/>
          </a:ln>
        </p:spPr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29300" y="281176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88100" y="2747070"/>
            <a:ext cx="289294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1ª chamada com PETR4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88100" y="3051870"/>
            <a:ext cx="337042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executa a função e guarda o resultado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19750" y="3632200"/>
            <a:ext cx="5753100" cy="904180"/>
          </a:xfrm>
          <a:prstGeom prst="roundRect">
            <a:avLst>
              <a:gd name="adj" fmla="val 10534"/>
            </a:avLst>
          </a:prstGeom>
          <a:solidFill>
            <a:srgbClr val="FFFDF8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9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29300" y="3881041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88100" y="3816350"/>
            <a:ext cx="34111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chamadas seguintes com PETR4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388100" y="4121150"/>
            <a:ext cx="397418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devolve o resultado guardado, sem consultar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613400" y="4695130"/>
            <a:ext cx="3376513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ttl=600: o resultado vale por 10 minutos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Dois caches, dois propósitos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5168900" cy="2234902"/>
          </a:xfrm>
          <a:prstGeom prst="roundRect">
            <a:avLst>
              <a:gd name="adj" fmla="val 5398"/>
            </a:avLst>
          </a:prstGeom>
          <a:solidFill>
            <a:srgbClr val="FFFDF8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4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4100" y="180588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4100" y="2263080"/>
            <a:ext cx="483997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st.cache_data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4100" y="2638921"/>
            <a:ext cx="483997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 resultados: tabelas, listas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4100" y="2989362"/>
            <a:ext cx="483997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chamada recebe uma cópia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4100" y="3339802"/>
            <a:ext cx="48399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ex.: preços consultados no banco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03950" y="1570930"/>
            <a:ext cx="5168900" cy="2234902"/>
          </a:xfrm>
          <a:prstGeom prst="roundRect">
            <a:avLst>
              <a:gd name="adj" fmla="val 5398"/>
            </a:avLst>
          </a:prstGeom>
          <a:solidFill>
            <a:srgbClr val="FFFDF8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0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38900" y="1805880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38900" y="2263080"/>
            <a:ext cx="483997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st.cache_resource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38900" y="2638921"/>
            <a:ext cx="483997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 objetos: modelo, conexão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38900" y="2989362"/>
            <a:ext cx="483997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único objeto para todos os usuários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38900" y="3339802"/>
            <a:ext cx="48399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ex.: um modelo de ML carregado uma vez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9150" y="4123333"/>
            <a:ext cx="10553700" cy="1003201"/>
          </a:xfrm>
          <a:prstGeom prst="roundRect">
            <a:avLst>
              <a:gd name="adj" fmla="val 12027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pic>
        <p:nvPicPr>
          <p:cNvPr id="16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9500" y="4396284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14500" y="4332883"/>
            <a:ext cx="829846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login de um usuário nunca vai para o cache_resource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14500" y="4668143"/>
            <a:ext cx="96520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 é compartilhado: o próximo visitante herdaria a sessão do anterior. Login fica em st.session_state.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790678"/>
            <a:ext cx="9810750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script ao app publicado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753795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várias páginas · segredos · publicação · conexão com o banco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Várias páginas: st.navigation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50" y="2599730"/>
            <a:ext cx="2654300" cy="2410321"/>
          </a:xfrm>
          <a:prstGeom prst="roundRect">
            <a:avLst>
              <a:gd name="adj" fmla="val 3952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181652" tIns="181652" rIns="114596" bIns="15625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app/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 streamlit_app.py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└─ paginas/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├─ ranking.py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├─ acao.py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├─ carteiras.py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└─ perfil.py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784600" y="2734866"/>
            <a:ext cx="4191000" cy="2139950"/>
          </a:xfrm>
          <a:prstGeom prst="roundRect">
            <a:avLst>
              <a:gd name="adj" fmla="val 4748"/>
            </a:avLst>
          </a:prstGeom>
          <a:solidFill>
            <a:srgbClr val="1C2433"/>
          </a:solidFill>
          <a:ln/>
        </p:spPr>
        <p:txBody>
          <a:bodyPr wrap="square" lIns="224242" tIns="173442" rIns="113752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pg = st.navigation([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st.Page(</a:t>
            </a:r>
            <a:r>
              <a:rPr lang="en-US" sz="13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"paginas/ranking.py"</a:t>
            </a: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title=</a:t>
            </a:r>
            <a:r>
              <a:rPr lang="en-US" sz="13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"Ranking"</a:t>
            </a: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st.Page(</a:t>
            </a:r>
            <a:r>
              <a:rPr lang="en-US" sz="13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"paginas/perfil.py"</a:t>
            </a: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title=</a:t>
            </a:r>
            <a:r>
              <a:rPr lang="en-US" sz="13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"Meu perfil"</a:t>
            </a: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pg.run()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80400" y="2773759"/>
            <a:ext cx="2413000" cy="2062163"/>
          </a:xfrm>
          <a:prstGeom prst="roundRect">
            <a:avLst>
              <a:gd name="adj" fmla="val 4927"/>
            </a:avLst>
          </a:prstGeom>
          <a:solidFill>
            <a:srgbClr val="ECE9E2"/>
          </a:solidFill>
          <a:ln/>
        </p:spPr>
      </p:sp>
      <p:sp>
        <p:nvSpPr>
          <p:cNvPr id="6" name="Text 4"/>
          <p:cNvSpPr/>
          <p:nvPr/>
        </p:nvSpPr>
        <p:spPr>
          <a:xfrm>
            <a:off x="8432800" y="2926159"/>
            <a:ext cx="2108200" cy="401241"/>
          </a:xfrm>
          <a:prstGeom prst="roundRect">
            <a:avLst>
              <a:gd name="adj" fmla="val 15826"/>
            </a:avLst>
          </a:prstGeom>
          <a:solidFill>
            <a:srgbClr val="DCE7FA"/>
          </a:solidFill>
          <a:ln/>
        </p:spPr>
        <p:txBody>
          <a:bodyPr wrap="square" lIns="108401" tIns="57601" rIns="52775" bIns="3220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59800" y="3454400"/>
            <a:ext cx="190982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59800" y="3906441"/>
            <a:ext cx="190982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Minhas carteiras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59800" y="4358481"/>
            <a:ext cx="190982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Meu 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Segredos: st.secrets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108200"/>
            <a:ext cx="3543300" cy="1130300"/>
          </a:xfrm>
          <a:prstGeom prst="roundRect">
            <a:avLst>
              <a:gd name="adj" fmla="val 8427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pic>
        <p:nvPicPr>
          <p:cNvPr id="4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38400" y="2239070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8592" y="2594670"/>
            <a:ext cx="294441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.streamlit/secrets.toml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68517" y="2894310"/>
            <a:ext cx="2244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sua máquina, fora do Git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19150" y="3759200"/>
            <a:ext cx="3543300" cy="1130300"/>
          </a:xfrm>
          <a:prstGeom prst="roundRect">
            <a:avLst>
              <a:gd name="adj" fmla="val 8427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pic>
        <p:nvPicPr>
          <p:cNvPr id="8" name="Image 1" descr="Clou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38400" y="3890070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4626" y="4245670"/>
            <a:ext cx="17922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Secrets do app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430427" y="4545310"/>
            <a:ext cx="2320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painel do Streamlit Cloud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391150" y="2933700"/>
            <a:ext cx="2273300" cy="1130300"/>
          </a:xfrm>
          <a:prstGeom prst="roundRect">
            <a:avLst>
              <a:gd name="adj" fmla="val 8427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87611" y="3242370"/>
            <a:ext cx="128027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st.secrets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801281" y="3542010"/>
            <a:ext cx="14530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lê de onde estiver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432800" y="3282950"/>
            <a:ext cx="2946400" cy="802481"/>
          </a:xfrm>
          <a:prstGeom prst="roundRect">
            <a:avLst>
              <a:gd name="adj" fmla="val 11078"/>
            </a:avLst>
          </a:prstGeom>
          <a:solidFill>
            <a:srgbClr val="1C2433"/>
          </a:solidFill>
          <a:ln/>
        </p:spPr>
        <p:txBody>
          <a:bodyPr wrap="square" lIns="151762" tIns="126362" rIns="74038" bIns="10096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st.secrets[</a:t>
            </a:r>
            <a:r>
              <a:rPr lang="en-US" sz="14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"SUPABASE_URL"</a:t>
            </a:r>
            <a:r>
              <a:rPr lang="en-US" sz="14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</a:t>
            </a:r>
            <a:endParaRPr lang="en-US" sz="1400" dirty="0"/>
          </a:p>
        </p:txBody>
      </p:sp>
      <p:pic>
        <p:nvPicPr>
          <p:cNvPr id="1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18000" y="2622550"/>
            <a:ext cx="1117600" cy="800100"/>
          </a:xfrm>
          <a:prstGeom prst="rect">
            <a:avLst/>
          </a:prstGeom>
        </p:spPr>
      </p:pic>
      <p:pic>
        <p:nvPicPr>
          <p:cNvPr id="1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18000" y="3575050"/>
            <a:ext cx="1117600" cy="800100"/>
          </a:xfrm>
          <a:prstGeom prst="rect">
            <a:avLst/>
          </a:prstGeom>
        </p:spPr>
      </p:pic>
      <p:pic>
        <p:nvPicPr>
          <p:cNvPr id="17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20000" y="3448050"/>
            <a:ext cx="838200" cy="101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2800" y="5149850"/>
            <a:ext cx="5624513" cy="358080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secrets.toml.example vai para o GitHub, só com valores de exemplo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Publicar de graça: Streamlit Community Cloud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95350" y="2571750"/>
            <a:ext cx="2781300" cy="1803301"/>
          </a:xfrm>
          <a:prstGeom prst="roundRect">
            <a:avLst>
              <a:gd name="adj" fmla="val 669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4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32000" y="2857500"/>
            <a:ext cx="508000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12846" y="3467100"/>
            <a:ext cx="94630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396970" y="3858220"/>
            <a:ext cx="17779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repositório do app</a:t>
            </a:r>
            <a:endParaRPr lang="en-US" sz="1300" dirty="0"/>
          </a:p>
        </p:txBody>
      </p:sp>
      <p:pic>
        <p:nvPicPr>
          <p:cNvPr id="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3422650"/>
            <a:ext cx="609600" cy="101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05350" y="2571750"/>
            <a:ext cx="2781300" cy="1803301"/>
          </a:xfrm>
          <a:prstGeom prst="roundRect">
            <a:avLst>
              <a:gd name="adj" fmla="val 6691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9" name="Image 2" descr="Clou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42000" y="2857500"/>
            <a:ext cx="508000" cy="50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06923" y="3467100"/>
            <a:ext cx="237815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share.streamlit.io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4813340" y="3858220"/>
            <a:ext cx="256532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CE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escolhe repositório e arquivo</a:t>
            </a:r>
            <a:endParaRPr lang="en-US" sz="1300" dirty="0"/>
          </a:p>
        </p:txBody>
      </p:sp>
      <p:pic>
        <p:nvPicPr>
          <p:cNvPr id="1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96200" y="3422650"/>
            <a:ext cx="609600" cy="1016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515350" y="2571750"/>
            <a:ext cx="2781300" cy="1803301"/>
          </a:xfrm>
          <a:prstGeom prst="roundRect">
            <a:avLst>
              <a:gd name="adj" fmla="val 669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14" name="Image 4" descr="Glob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52000" y="2857500"/>
            <a:ext cx="508000" cy="508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82144" y="3467100"/>
            <a:ext cx="26477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nome.streamlit.app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9137571" y="3858220"/>
            <a:ext cx="15368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endereço público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2470348" y="5687120"/>
            <a:ext cx="3074690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push → o app se atualiza sozinho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5697438" y="5687120"/>
            <a:ext cx="4024114" cy="358080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h sem acesso → hiberna, ~1 min para acordar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Ponte com a Aula 1: ler o Supabase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012950"/>
            <a:ext cx="5588000" cy="2921000"/>
          </a:xfrm>
          <a:prstGeom prst="roundRect">
            <a:avLst>
              <a:gd name="adj" fmla="val 3478"/>
            </a:avLst>
          </a:prstGeom>
          <a:solidFill>
            <a:srgbClr val="1C2433"/>
          </a:solidFill>
          <a:ln/>
        </p:spPr>
        <p:txBody>
          <a:bodyPr wrap="square" lIns="224242" tIns="173442" rIns="71842" bIns="1480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supabase </a:t>
            </a:r>
            <a:r>
              <a:rPr lang="en-US" sz="1200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</a:t>
            </a: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create_client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sb = create_client(st.secrets[</a:t>
            </a:r>
            <a:r>
              <a:rPr lang="en-US" sz="12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"SUPABASE_URL"</a:t>
            </a: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st.secrets[</a:t>
            </a:r>
            <a:r>
              <a:rPr lang="en-US" sz="12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"SUPABASE_PUBLISHABLE_KEY"</a:t>
            </a: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sb.auth.sign_in_with_password({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"email"</a:t>
            </a: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st.secrets[</a:t>
            </a:r>
            <a:r>
              <a:rPr lang="en-US" sz="12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"EMAIL"</a:t>
            </a: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"password"</a:t>
            </a: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st.secrets[</a:t>
            </a:r>
            <a:r>
              <a:rPr lang="en-US" sz="12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"SENHA"</a:t>
            </a: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]})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dados = sb.table(</a:t>
            </a:r>
            <a:r>
              <a:rPr lang="en-US" sz="12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"ativos"</a:t>
            </a: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.select(</a:t>
            </a:r>
            <a:r>
              <a:rPr lang="en-US" sz="12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"ticker, nome"</a:t>
            </a: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).execute().data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E6D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st.dataframe(dados)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711950" y="1839714"/>
            <a:ext cx="4432300" cy="3267373"/>
          </a:xfrm>
          <a:prstGeom prst="roundRect">
            <a:avLst>
              <a:gd name="adj" fmla="val 2915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18300" y="1846064"/>
            <a:ext cx="4419600" cy="330200"/>
          </a:xfrm>
          <a:custGeom>
            <a:avLst/>
            <a:gdLst/>
            <a:ahLst/>
            <a:cxnLst/>
            <a:rect l="l" t="t" r="r" b="b"/>
            <a:pathLst>
              <a:path w="4419600" h="330200">
                <a:moveTo>
                  <a:pt x="0" y="88900"/>
                </a:moveTo>
                <a:arcTo hR="88900" wR="88900" stAng="10800000" swAng="5400000"/>
                <a:lnTo>
                  <a:pt x="4330700" y="0"/>
                </a:lnTo>
                <a:arcTo hR="88900" wR="88900" stAng="16200000" swAng="5400000"/>
                <a:lnTo>
                  <a:pt x="441960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9E5DC"/>
          </a:solidFill>
          <a:ln/>
        </p:spPr>
      </p:sp>
      <p:pic>
        <p:nvPicPr>
          <p:cNvPr id="6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45300" y="1960364"/>
            <a:ext cx="101600" cy="101600"/>
          </a:xfrm>
          <a:prstGeom prst="rect">
            <a:avLst/>
          </a:prstGeom>
        </p:spPr>
      </p:pic>
      <p:pic>
        <p:nvPicPr>
          <p:cNvPr id="7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10400" y="1960364"/>
            <a:ext cx="101600" cy="101600"/>
          </a:xfrm>
          <a:prstGeom prst="rect">
            <a:avLst/>
          </a:prstGeom>
        </p:spPr>
      </p:pic>
      <p:pic>
        <p:nvPicPr>
          <p:cNvPr id="8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75500" y="1960364"/>
            <a:ext cx="101600" cy="10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42200" y="1904504"/>
            <a:ext cx="1242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localhost:8501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946900" y="2379464"/>
            <a:ext cx="408127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Ações</a:t>
            </a:r>
            <a:endParaRPr lang="en-US" sz="2200" dirty="0"/>
          </a:p>
        </p:txBody>
      </p:sp>
      <p:sp>
        <p:nvSpPr>
          <p:cNvPr id="11" name="Shape 6"/>
          <p:cNvSpPr/>
          <p:nvPr/>
        </p:nvSpPr>
        <p:spPr>
          <a:xfrm>
            <a:off x="6946900" y="2897584"/>
            <a:ext cx="3937000" cy="1999952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2" name="Shape 7"/>
          <p:cNvSpPr/>
          <p:nvPr/>
        </p:nvSpPr>
        <p:spPr>
          <a:xfrm>
            <a:off x="10880725" y="2897584"/>
            <a:ext cx="0" cy="1999952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946900" y="4894362"/>
            <a:ext cx="39370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59600" y="2910284"/>
          <a:ext cx="3917950" cy="1980902"/>
        </p:xfrm>
        <a:graphic>
          <a:graphicData uri="http://schemas.openxmlformats.org/drawingml/2006/table">
            <a:tbl>
              <a:tblPr/>
              <a:tblGrid>
                <a:gridCol w="1332103"/>
                <a:gridCol w="2585847"/>
              </a:tblGrid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ticker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F5FD1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nome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ABEV3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Ambev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B3SA3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BBAS3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Banco do Brasil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1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BBDC4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Bradesco PN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812800" y="5687120"/>
            <a:ext cx="6031706" cy="358080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login, a RLS não libera nada: o exemplo entra com um usuário de teste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Recapitulando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2520950" cy="2051050"/>
          </a:xfrm>
          <a:prstGeom prst="roundRect">
            <a:avLst>
              <a:gd name="adj" fmla="val 4799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4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950" y="177413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6950" y="22059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st.* desenha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96950" y="252591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ordem do script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95675" y="1567755"/>
            <a:ext cx="2520950" cy="2051050"/>
          </a:xfrm>
          <a:prstGeom prst="roundRect">
            <a:avLst>
              <a:gd name="adj" fmla="val 4799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8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6650" y="1774130"/>
            <a:ext cx="355600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6650" y="22059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76650" y="252591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tabela, gráfico, métrica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5375" y="1567755"/>
            <a:ext cx="2520950" cy="2051050"/>
          </a:xfrm>
          <a:prstGeom prst="roundRect">
            <a:avLst>
              <a:gd name="adj" fmla="val 4799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12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56350" y="1774130"/>
            <a:ext cx="355600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6350" y="22059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Widgets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356350" y="252591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devolvem valores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855075" y="1567755"/>
            <a:ext cx="2520950" cy="2051050"/>
          </a:xfrm>
          <a:prstGeom prst="roundRect">
            <a:avLst>
              <a:gd name="adj" fmla="val 4799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16" name="Image 3" descr="Activit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36050" y="1774130"/>
            <a:ext cx="355600" cy="355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36050" y="22059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Reexecução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036050" y="252591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cada interação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15975" y="3777555"/>
            <a:ext cx="2520950" cy="2264470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0" name="Image 4" descr="User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6950" y="3983930"/>
            <a:ext cx="355600" cy="355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96950" y="44157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session_state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996950" y="473571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memória de cada aba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495675" y="3777555"/>
            <a:ext cx="2520950" cy="2264470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4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676650" y="3983930"/>
            <a:ext cx="355600" cy="355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76650" y="44157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st.form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3676650" y="473571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envio, uma execução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175375" y="3777555"/>
            <a:ext cx="2520950" cy="2264470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8" name="Image 6" descr="Lightni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56350" y="3983930"/>
            <a:ext cx="355600" cy="355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56350" y="44157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6356350" y="4735711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por cópia, resource para todos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855075" y="3777555"/>
            <a:ext cx="2520950" cy="2264470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32" name="Image 7" descr="Cloud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36050" y="3983930"/>
            <a:ext cx="355600" cy="3556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36050" y="4415730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Publicar</a:t>
            </a:r>
            <a:endParaRPr lang="en-US" sz="1600" dirty="0"/>
          </a:p>
        </p:txBody>
      </p:sp>
      <p:sp>
        <p:nvSpPr>
          <p:cNvPr id="34" name="Text 24"/>
          <p:cNvSpPr/>
          <p:nvPr/>
        </p:nvSpPr>
        <p:spPr>
          <a:xfrm>
            <a:off x="9036050" y="473571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páginas, secrets, Cloud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5600" y="3606800"/>
            <a:ext cx="8940800" cy="381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10883392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Agora, ao vivo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388467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05867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Instalar e rodar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49600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667000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Widgets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10634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428034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Contador com session_state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1766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89166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32800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50200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Ler o Supabase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193834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711234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Publicar na nuvem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2800" y="53340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 install streamlit supabase · streamlit run app.py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la 3 — Introdução ao Streamlit">
  <a:themeElements>
    <a:clrScheme name="Aula 3 — Introdução ao Streamlit">
      <a:dk1>
        <a:srgbClr val="1C2433"/>
      </a:dk1>
      <a:lt1>
        <a:srgbClr val="F5F3EE"/>
      </a:lt1>
      <a:dk2>
        <a:srgbClr val="525862"/>
      </a:dk2>
      <a:lt2>
        <a:srgbClr val="DFDEDB"/>
      </a:lt2>
      <a:accent1>
        <a:srgbClr val="1F5FD1"/>
      </a:accent1>
      <a:accent2>
        <a:srgbClr val="B9520E"/>
      </a:accent2>
      <a:accent3>
        <a:srgbClr val="8DB6FF"/>
      </a:accent3>
      <a:accent4>
        <a:srgbClr val="FBE3D0"/>
      </a:accent4>
      <a:accent5>
        <a:srgbClr val="2E7D4F"/>
      </a:accent5>
      <a:accent6>
        <a:srgbClr val="566070"/>
      </a:accent6>
      <a:hlink>
        <a:srgbClr val="0563C1"/>
      </a:hlink>
      <a:folHlink>
        <a:srgbClr val="954F72"/>
      </a:folHlink>
    </a:clrScheme>
    <a:fontScheme name="Aula 3 — Introdução ao Streamlit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3 — Introdução ao Streamlit</dc:title>
  <dc:subject/>
  <dc:creator/>
  <cp:lastModifiedBy/>
  <cp:revision>1</cp:revision>
  <dcterms:created xsi:type="dcterms:W3CDTF">2026-10-02T19:35:15Z</dcterms:created>
  <dcterms:modified xsi:type="dcterms:W3CDTF">2026-10-02T19:35:15Z</dcterms:modified>
</cp:coreProperties>
</file>