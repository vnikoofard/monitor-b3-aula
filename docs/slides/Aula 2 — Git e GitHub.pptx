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Hoje: Git, que guarda o histórico do projeto na sua máquina, e GitHub, que guarda esse histórico na nuvem. Os dois são pré-requisito para publicar o app Streamlit (Aula 3) e para rodar o pipeline no GitHub Actions (Aula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para a turma: quem já teve uma pasta assim? O controle de versão resolve isso: um arquivo por coisa, e um histórico completo de mudanças que permite voltar a qualquer versão.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é a ferramenta, criada em 2005 para o desenvolvimento do Linux; funciona sem internet. GitHub é um serviço na nuvem que guarda cópias de repositórios Git, com páginas web, colaboração e automação. Há alternativas ao GitHub, como GitLab, mas o Git é o mesmo.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repositório é uma pasta comum com uma subpasta oculta, .git, onde o Git guarda todas as versões. Apagar a .git apaga o histórico, mas não os arquivos atuais. No Windows, ela só aparece com 'itens ocultos' ligado.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commit registra o estado de todos os arquivos naquele momento, com autor, data e uma mensagem. A sequência de commits é o histórico do projeto. O último (em laranja) é a versão atual. Hashes e nomes ilustrativos.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Editar um arquivo não registra nada. git add escolhe o que entra no próximo commit; git commit tira a foto. A área de preparação permite registrar só parte das mudanças. No dia a dia, git add . (com ponto) prepara tudo de uma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comandos que os alunos vão usar quase todo dia. O -m traz a mensagem do commit: curta, no imperativo, dizendo o que a mudança faz. Os três primeiros são locais; só o push precisa de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bloco: como o repositório local conversa com a cópia no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envia os commits locais ao GitHub; pull traz os commits novos do GitHub para a sua máquina. Cada pessoa tem uma cópia completa do repositório, e o GitHub é o ponto de encontro. Antes de começar a trabalhar, pull; ao terminar,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clone é feito uma única vez: cria a pasta, baixa todos os arquivos e todo o histórico, e já deixa o repositório local ligado ao remoto. Depois, para atualizar, basta git pull. É como os alunos vão baixar o projeto da disciplina.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branch é uma linha de commits separada: dá para testar uma ideia sem mexer na versão principal e, se der certo, juntar de volta (merge). Equipes usam muito. Para o projeto da disciplina, basta a branch principal, chamada main ou master conforme 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.gitignore lista arquivos que o Git deve ignorar: arquivos gerados automaticamente e, principalmente, arquivos com senhas e chaves. Atenção: ele vale para o Git no terminal, mas não para o upload pelo navegador do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 Git guarda todas as versões, um segredo enviado uma vez fica no histórico, e um repositório público pode ser lido por qualquer um. A única solução segura é trocar a chave. Ligação com a Aula 1: a chave secreta do Supabase nunca pode ir para 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Terceiro bloco: o passo a passo que os alunos vão seguir com o projeto da disciplina.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chegam ao mesmo lugar. Pelo navegador é mais simples, mas envia tudo o que for arrastado, inclusive um secrets.toml esquecido na pasta. Pelo terminal, o .gitignore protege. O guia de implantação descreve os dois.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winget já vem no Windows 10 e 11. Depois de instalar, é preciso reabrir o PowerShell para os comandos serem reconhecidos. O git config grava o nome e o e-mail que aparecem nos commits. O gh auth login abre o navegador para autenticar: o GitHub não aceita mais a senha da conta no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Sequência completa para transformar a pasta do projeto num repositório e publicá-la: git init cria o repositório local, add e commit tiram a primeira foto, e gh repo create cria o repositório no GitHub e já envia tudo. No Windows, a quebra de linha com barra invertida não funciona: escreva o comando numa linha só.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 para as próximas aulas: o Streamlit Community Cloud lê o app direto do repositório (Aula 3), e o GitHub Actions roda o pipeline todos os dias usando os Secrets (Aula 4). Tudo parte do repositório que criamos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cola para os alunos guardarem. Os sete comandos cobrem tudo o que o projeto da disciplina exige.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da prática: cada aluno instala as ferramentas, cria o repositório com o projeto e faz uma segunda mudança para ver o histórico crescer no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47200" y="812800"/>
            <a:ext cx="1219200" cy="1219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8DB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AULA 2 DE 4 · VERSIONAMENTO</a:t>
            </a:r>
            <a:endParaRPr lang="en-US" sz="13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779713"/>
            <a:ext cx="8502650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 e GitHub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812800" y="3777853"/>
            <a:ext cx="1088339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AEB6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Guardar, versionar e compartilhar código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2800" y="5822355"/>
            <a:ext cx="10883392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EB6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Prof. Vahid Nikoofard · FAT-UERJ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controle de versão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70930"/>
            <a:ext cx="5118100" cy="4467920"/>
          </a:xfrm>
          <a:prstGeom prst="roundRect">
            <a:avLst>
              <a:gd name="adj" fmla="val 2700"/>
            </a:avLst>
          </a:prstGeom>
          <a:solidFill>
            <a:srgbClr val="FFFDF8"/>
          </a:solidFill>
          <a:ln w="12700">
            <a:solidFill>
              <a:srgbClr val="B9520E"/>
            </a:solidFill>
            <a:prstDash val="solid"/>
          </a:ln>
        </p:spPr>
      </p:sp>
      <p:pic>
        <p:nvPicPr>
          <p:cNvPr id="4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9500" y="1831280"/>
            <a:ext cx="355600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9500" y="2313880"/>
            <a:ext cx="4735322" cy="1447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projeto.py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projeto_v2.py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projeto_v2_final.py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projeto_final_AGORA_VAI.py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projeto_final_corrigido_ana.py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9500" y="3863181"/>
            <a:ext cx="473532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 é a versão certa? O que mudou? Quem mudou?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54750" y="1570930"/>
            <a:ext cx="5118100" cy="4467920"/>
          </a:xfrm>
          <a:prstGeom prst="roundRect">
            <a:avLst>
              <a:gd name="adj" fmla="val 2700"/>
            </a:avLst>
          </a:prstGeom>
          <a:solidFill>
            <a:srgbClr val="FFFDF8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8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5100" y="1831280"/>
            <a:ext cx="355600" cy="35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5100" y="2313880"/>
            <a:ext cx="473532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projeto.py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515100" y="2725341"/>
            <a:ext cx="473532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arquivo só, e o histórico guarda todas as versões: o que mudou, quando, por quem e por quê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 e GitHub não são a mesma coisa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517650" y="2615208"/>
            <a:ext cx="3924300" cy="2379266"/>
          </a:xfrm>
          <a:prstGeom prst="roundRect">
            <a:avLst>
              <a:gd name="adj" fmla="val 5071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pic>
        <p:nvPicPr>
          <p:cNvPr id="4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0" y="2926358"/>
            <a:ext cx="558800" cy="55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4766" y="3586758"/>
            <a:ext cx="550069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957596" y="4084538"/>
            <a:ext cx="3044309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programa na sua máquina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110819" y="4443313"/>
            <a:ext cx="2737961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guarda o histórico do projeto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39906" y="3591520"/>
            <a:ext cx="51208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952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push</a:t>
            </a:r>
            <a:endParaRPr lang="en-US" sz="1400" dirty="0"/>
          </a:p>
        </p:txBody>
      </p:sp>
      <p:pic>
        <p:nvPicPr>
          <p:cNvPr id="9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51500" y="3891161"/>
            <a:ext cx="889000" cy="127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750050" y="2615208"/>
            <a:ext cx="3924300" cy="2379266"/>
          </a:xfrm>
          <a:prstGeom prst="roundRect">
            <a:avLst>
              <a:gd name="adj" fmla="val 5071"/>
            </a:avLst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11" name="Image 2" descr="Cloud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32800" y="2926358"/>
            <a:ext cx="558800" cy="558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55213" y="3586758"/>
            <a:ext cx="1313974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</a:t>
            </a:r>
            <a:endParaRPr lang="en-US" sz="2600" dirty="0"/>
          </a:p>
        </p:txBody>
      </p:sp>
      <p:sp>
        <p:nvSpPr>
          <p:cNvPr id="13" name="Text 8"/>
          <p:cNvSpPr/>
          <p:nvPr/>
        </p:nvSpPr>
        <p:spPr>
          <a:xfrm>
            <a:off x="6830308" y="4084538"/>
            <a:ext cx="376368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site que hospeda repositórios Git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7087245" y="4443313"/>
            <a:ext cx="3249811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DCE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compartilha, publica e automatiza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Repositório: uma pasta com memória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35150" y="2315369"/>
            <a:ext cx="4813300" cy="2978944"/>
          </a:xfrm>
          <a:prstGeom prst="roundRect">
            <a:avLst>
              <a:gd name="adj" fmla="val 4050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pic>
        <p:nvPicPr>
          <p:cNvPr id="4" name="Image 0" descr="Hom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95500" y="2575719"/>
            <a:ext cx="30480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01900" y="2585839"/>
            <a:ext cx="234088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monitor-b3-aula/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01900" y="2969419"/>
            <a:ext cx="400278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pipeline/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01900" y="3307159"/>
            <a:ext cx="400278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app/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01900" y="3644900"/>
            <a:ext cx="400278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sql/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501900" y="3982641"/>
            <a:ext cx="400278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README.md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501900" y="4320381"/>
            <a:ext cx="400278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requirements.txt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501900" y="4658122"/>
            <a:ext cx="787499" cy="375841"/>
          </a:xfrm>
          <a:prstGeom prst="roundRect">
            <a:avLst>
              <a:gd name="adj" fmla="val 16895"/>
            </a:avLst>
          </a:prstGeom>
          <a:solidFill>
            <a:srgbClr val="FBE3D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952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.git/</a:t>
            </a:r>
            <a:endParaRPr lang="en-US" sz="1400" dirty="0"/>
          </a:p>
        </p:txBody>
      </p:sp>
      <p:pic>
        <p:nvPicPr>
          <p:cNvPr id="12" name="Image 1" descr="C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61200" y="2917825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61200" y="3502025"/>
            <a:ext cx="3401060" cy="60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pasta oculta </a:t>
            </a:r>
            <a:r>
              <a:rPr lang="en-US" sz="17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.git</a:t>
            </a:r>
            <a:r>
              <a:rPr lang="en-US" sz="17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guarda todo o histórico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061200" y="4211836"/>
            <a:ext cx="340106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 criada por git init ou git clone; nunca se mexe nela à mão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Commit: uma foto do projeto, com legenda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2767409"/>
            <a:ext cx="2019300" cy="1462782"/>
          </a:xfrm>
          <a:prstGeom prst="roundRect">
            <a:avLst>
              <a:gd name="adj" fmla="val 6512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3300" y="2951559"/>
            <a:ext cx="1701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a1f3c9e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3300" y="3258840"/>
            <a:ext cx="17018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Cria o schema do banco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3300" y="3832721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 · seg</a:t>
            </a:r>
            <a:endParaRPr lang="en-US" sz="1200" dirty="0"/>
          </a:p>
        </p:txBody>
      </p:sp>
      <p:pic>
        <p:nvPicPr>
          <p:cNvPr id="7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97200" y="3447951"/>
            <a:ext cx="457200" cy="10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13150" y="2891830"/>
            <a:ext cx="2019300" cy="1213941"/>
          </a:xfrm>
          <a:prstGeom prst="roundRect">
            <a:avLst>
              <a:gd name="adj" fmla="val 7846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97300" y="3075980"/>
            <a:ext cx="1701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7b20d41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797300" y="3383260"/>
            <a:ext cx="1701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Adiciona o pipeline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797300" y="3708301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 · ter</a:t>
            </a:r>
            <a:endParaRPr lang="en-US" sz="1200" dirty="0"/>
          </a:p>
        </p:txBody>
      </p:sp>
      <p:pic>
        <p:nvPicPr>
          <p:cNvPr id="12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91200" y="3447951"/>
            <a:ext cx="457200" cy="101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07150" y="2767409"/>
            <a:ext cx="2019300" cy="1462782"/>
          </a:xfrm>
          <a:prstGeom prst="roundRect">
            <a:avLst>
              <a:gd name="adj" fmla="val 6512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91300" y="2951559"/>
            <a:ext cx="1701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c88e2fa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591300" y="3258840"/>
            <a:ext cx="17018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Corrige o requirements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91300" y="3832721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Bruno · qua</a:t>
            </a:r>
            <a:endParaRPr lang="en-US" sz="1200" dirty="0"/>
          </a:p>
        </p:txBody>
      </p:sp>
      <p:pic>
        <p:nvPicPr>
          <p:cNvPr id="17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85200" y="3447951"/>
            <a:ext cx="457200" cy="1016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201150" y="2891830"/>
            <a:ext cx="2019300" cy="1213941"/>
          </a:xfrm>
          <a:prstGeom prst="roundRect">
            <a:avLst>
              <a:gd name="adj" fmla="val 7846"/>
            </a:avLst>
          </a:prstGeom>
          <a:solidFill>
            <a:srgbClr val="FBE3D0"/>
          </a:solidFill>
          <a:ln w="12700">
            <a:solidFill>
              <a:srgbClr val="B9520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385300" y="3075980"/>
            <a:ext cx="1701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e41b7d0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9385300" y="3383260"/>
            <a:ext cx="1701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Adiciona o app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9385300" y="3708301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 · qui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12800" y="4490541"/>
            <a:ext cx="3427214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commit tem um código único (hash)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341614" y="4490541"/>
            <a:ext cx="3325713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mensagem diz o que mudou e por quê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7768927" y="4490541"/>
            <a:ext cx="2508647" cy="358080"/>
          </a:xfrm>
          <a:prstGeom prst="roundRect">
            <a:avLst>
              <a:gd name="adj" fmla="val 50000"/>
            </a:avLst>
          </a:prstGeom>
          <a:solidFill>
            <a:srgbClr val="FBE3D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dá para voltar a qualquer um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caminho de uma mudança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2604790"/>
            <a:ext cx="2654300" cy="1737221"/>
          </a:xfrm>
          <a:prstGeom prst="roundRect">
            <a:avLst>
              <a:gd name="adj" fmla="val 6945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pic>
        <p:nvPicPr>
          <p:cNvPr id="4" name="Image 0" descr="Wren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17700" y="28905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7003" y="3449340"/>
            <a:ext cx="223849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Pasta de trabalho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5323" y="3825180"/>
            <a:ext cx="246185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onde você edita os arquivos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28559" y="3253780"/>
            <a:ext cx="89618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952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 add</a:t>
            </a:r>
            <a:endParaRPr lang="en-US" sz="1400" dirty="0"/>
          </a:p>
        </p:txBody>
      </p:sp>
      <p:pic>
        <p:nvPicPr>
          <p:cNvPr id="8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32200" y="3566120"/>
            <a:ext cx="889000" cy="127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679950" y="2489299"/>
            <a:ext cx="2654300" cy="1968302"/>
          </a:xfrm>
          <a:prstGeom prst="roundRect">
            <a:avLst>
              <a:gd name="adj" fmla="val 6130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pic>
        <p:nvPicPr>
          <p:cNvPr id="10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78500" y="2775049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60526" y="3333849"/>
            <a:ext cx="249305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Área de preparação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4803648" y="3709690"/>
            <a:ext cx="240690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vai entrar na próxima foto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7493000" y="3253780"/>
            <a:ext cx="12192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952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 commit</a:t>
            </a:r>
            <a:endParaRPr lang="en-US" sz="1400" dirty="0"/>
          </a:p>
        </p:txBody>
      </p:sp>
      <p:pic>
        <p:nvPicPr>
          <p:cNvPr id="14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81900" y="3566120"/>
            <a:ext cx="889000" cy="1270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718550" y="2604790"/>
            <a:ext cx="2654300" cy="1737221"/>
          </a:xfrm>
          <a:prstGeom prst="roundRect">
            <a:avLst>
              <a:gd name="adj" fmla="val 6945"/>
            </a:avLst>
          </a:prstGeom>
          <a:solidFill>
            <a:srgbClr val="DCE7FA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16" name="Image 4" descr="Clo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817100" y="2890540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6074" y="3449340"/>
            <a:ext cx="179915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Histórico (.git)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9206676" y="3825180"/>
            <a:ext cx="167794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fotos guardadas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812800" y="5687120"/>
            <a:ext cx="3966567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 status mostra em que área está cada arquivo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ciclo do dia a dia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76300" y="2076450"/>
            <a:ext cx="1549400" cy="495300"/>
          </a:xfrm>
          <a:custGeom>
            <a:avLst/>
            <a:gdLst/>
            <a:ahLst/>
            <a:cxnLst/>
            <a:rect l="l" t="t" r="r" b="b"/>
            <a:pathLst>
              <a:path w="1549400" h="495300">
                <a:moveTo>
                  <a:pt x="69850" y="0"/>
                </a:moveTo>
                <a:lnTo>
                  <a:pt x="1479550" y="0"/>
                </a:lnTo>
                <a:arcTo hR="69850" wR="69850" stAng="16200000" swAng="5400000"/>
                <a:lnTo>
                  <a:pt x="1549400" y="425450"/>
                </a:lnTo>
                <a:arcTo hR="69850" wR="69850" stAng="0" swAng="5400000"/>
                <a:lnTo>
                  <a:pt x="69850" y="495300"/>
                </a:lnTo>
                <a:arcTo hR="69850" wR="69850" stAng="5400000" swAng="5400000"/>
                <a:lnTo>
                  <a:pt x="0" y="69850"/>
                </a:lnTo>
                <a:arcTo hR="69850" wR="69850" stAng="10800000" swAng="5400000"/>
                <a:close/>
              </a:path>
            </a:pathLst>
          </a:cu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0" tIns="133350" rIns="0" bIns="10795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editar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8767" y="2667000"/>
            <a:ext cx="14444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muda os arquivos</a:t>
            </a:r>
            <a:endParaRPr lang="en-US" sz="1200" dirty="0"/>
          </a:p>
        </p:txBody>
      </p:sp>
      <p:pic>
        <p:nvPicPr>
          <p:cNvPr id="5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84450" y="2273300"/>
            <a:ext cx="355600" cy="10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98800" y="2076450"/>
            <a:ext cx="1549400" cy="495300"/>
          </a:xfrm>
          <a:custGeom>
            <a:avLst/>
            <a:gdLst/>
            <a:ahLst/>
            <a:cxnLst/>
            <a:rect l="l" t="t" r="r" b="b"/>
            <a:pathLst>
              <a:path w="1549400" h="495300">
                <a:moveTo>
                  <a:pt x="69850" y="0"/>
                </a:moveTo>
                <a:lnTo>
                  <a:pt x="1479550" y="0"/>
                </a:lnTo>
                <a:arcTo hR="69850" wR="69850" stAng="16200000" swAng="5400000"/>
                <a:lnTo>
                  <a:pt x="1549400" y="425450"/>
                </a:lnTo>
                <a:arcTo hR="69850" wR="69850" stAng="0" swAng="5400000"/>
                <a:lnTo>
                  <a:pt x="69850" y="495300"/>
                </a:lnTo>
                <a:arcTo hR="69850" wR="69850" stAng="5400000" swAng="5400000"/>
                <a:lnTo>
                  <a:pt x="0" y="69850"/>
                </a:lnTo>
                <a:arcTo hR="69850" wR="69850" stAng="10800000" swAng="5400000"/>
                <a:close/>
              </a:path>
            </a:pathLst>
          </a:cu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0" tIns="133350" rIns="0" bIns="10795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 status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92356" y="2667000"/>
            <a:ext cx="1162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mudou?</a:t>
            </a:r>
            <a:endParaRPr lang="en-US" sz="1200" dirty="0"/>
          </a:p>
        </p:txBody>
      </p:sp>
      <p:pic>
        <p:nvPicPr>
          <p:cNvPr id="8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06950" y="2273300"/>
            <a:ext cx="355600" cy="10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21300" y="2076450"/>
            <a:ext cx="1549400" cy="495300"/>
          </a:xfrm>
          <a:custGeom>
            <a:avLst/>
            <a:gdLst/>
            <a:ahLst/>
            <a:cxnLst/>
            <a:rect l="l" t="t" r="r" b="b"/>
            <a:pathLst>
              <a:path w="1549400" h="495300">
                <a:moveTo>
                  <a:pt x="69850" y="0"/>
                </a:moveTo>
                <a:lnTo>
                  <a:pt x="1479550" y="0"/>
                </a:lnTo>
                <a:arcTo hR="69850" wR="69850" stAng="16200000" swAng="5400000"/>
                <a:lnTo>
                  <a:pt x="1549400" y="425450"/>
                </a:lnTo>
                <a:arcTo hR="69850" wR="69850" stAng="0" swAng="5400000"/>
                <a:lnTo>
                  <a:pt x="69850" y="495300"/>
                </a:lnTo>
                <a:arcTo hR="69850" wR="69850" stAng="5400000" swAng="5400000"/>
                <a:lnTo>
                  <a:pt x="0" y="69850"/>
                </a:lnTo>
                <a:arcTo hR="69850" wR="69850" stAng="10800000" swAng="5400000"/>
                <a:close/>
              </a:path>
            </a:pathLst>
          </a:cu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0" tIns="133350" rIns="0" bIns="10795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 add 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565825" y="2667000"/>
            <a:ext cx="10602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prepara tudo</a:t>
            </a:r>
            <a:endParaRPr lang="en-US" sz="1200" dirty="0"/>
          </a:p>
        </p:txBody>
      </p:sp>
      <p:pic>
        <p:nvPicPr>
          <p:cNvPr id="11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29450" y="2273300"/>
            <a:ext cx="355600" cy="101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43800" y="2076450"/>
            <a:ext cx="1549400" cy="495300"/>
          </a:xfrm>
          <a:custGeom>
            <a:avLst/>
            <a:gdLst/>
            <a:ahLst/>
            <a:cxnLst/>
            <a:rect l="l" t="t" r="r" b="b"/>
            <a:pathLst>
              <a:path w="1549400" h="495300">
                <a:moveTo>
                  <a:pt x="69850" y="0"/>
                </a:moveTo>
                <a:lnTo>
                  <a:pt x="1479550" y="0"/>
                </a:lnTo>
                <a:arcTo hR="69850" wR="69850" stAng="16200000" swAng="5400000"/>
                <a:lnTo>
                  <a:pt x="1549400" y="425450"/>
                </a:lnTo>
                <a:arcTo hR="69850" wR="69850" stAng="0" swAng="5400000"/>
                <a:lnTo>
                  <a:pt x="69850" y="495300"/>
                </a:lnTo>
                <a:arcTo hR="69850" wR="69850" stAng="5400000" swAng="5400000"/>
                <a:lnTo>
                  <a:pt x="0" y="69850"/>
                </a:lnTo>
                <a:arcTo hR="69850" wR="69850" stAng="10800000" swAng="5400000"/>
                <a:close/>
              </a:path>
            </a:pathLst>
          </a:cu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  <p:txBody>
          <a:bodyPr wrap="square" lIns="0" tIns="133350" rIns="0" bIns="10795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 commit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926080" y="2667000"/>
            <a:ext cx="7847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tira a foto</a:t>
            </a:r>
            <a:endParaRPr lang="en-US" sz="1200" dirty="0"/>
          </a:p>
        </p:txBody>
      </p:sp>
      <p:pic>
        <p:nvPicPr>
          <p:cNvPr id="14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51950" y="2273300"/>
            <a:ext cx="355600" cy="101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766300" y="2076450"/>
            <a:ext cx="1549400" cy="495300"/>
          </a:xfrm>
          <a:custGeom>
            <a:avLst/>
            <a:gdLst/>
            <a:ahLst/>
            <a:cxnLst/>
            <a:rect l="l" t="t" r="r" b="b"/>
            <a:pathLst>
              <a:path w="1549400" h="495300">
                <a:moveTo>
                  <a:pt x="69850" y="0"/>
                </a:moveTo>
                <a:lnTo>
                  <a:pt x="1479550" y="0"/>
                </a:lnTo>
                <a:arcTo hR="69850" wR="69850" stAng="16200000" swAng="5400000"/>
                <a:lnTo>
                  <a:pt x="1549400" y="425450"/>
                </a:lnTo>
                <a:arcTo hR="69850" wR="69850" stAng="0" swAng="5400000"/>
                <a:lnTo>
                  <a:pt x="69850" y="495300"/>
                </a:lnTo>
                <a:arcTo hR="69850" wR="69850" stAng="5400000" swAng="5400000"/>
                <a:lnTo>
                  <a:pt x="0" y="69850"/>
                </a:lnTo>
                <a:arcTo hR="69850" wR="69850" stAng="10800000" swAng="5400000"/>
                <a:close/>
              </a:path>
            </a:pathLst>
          </a:cu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  <p:txBody>
          <a:bodyPr wrap="square" lIns="0" tIns="133350" rIns="0" bIns="10795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 push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9891524" y="2667000"/>
            <a:ext cx="12988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envia ao GitHub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12800" y="5397500"/>
            <a:ext cx="10566400" cy="650875"/>
          </a:xfrm>
          <a:prstGeom prst="roundRect">
            <a:avLst>
              <a:gd name="adj" fmla="val 13659"/>
            </a:avLst>
          </a:prstGeom>
          <a:solidFill>
            <a:srgbClr val="2E3A4E"/>
          </a:solidFill>
          <a:ln/>
        </p:spPr>
        <p:txBody>
          <a:bodyPr wrap="square" lIns="202562" tIns="151762" rIns="0" bIns="126362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 commit -m </a:t>
            </a:r>
            <a:r>
              <a:rPr lang="en-US" sz="15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"Adiciona a página de perfil"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4790678"/>
            <a:ext cx="9810750" cy="68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GitHub: o repositório na nuvem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5753795"/>
            <a:ext cx="10883392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AEB6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remoto · push e pull · clone · .gitignore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 e remoto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832350" y="1520130"/>
            <a:ext cx="2527300" cy="1193800"/>
          </a:xfrm>
          <a:prstGeom prst="roundRect">
            <a:avLst>
              <a:gd name="adj" fmla="val 9043"/>
            </a:avLst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4" name="Image 0" descr="Clou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18200" y="1639491"/>
            <a:ext cx="355600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97508" y="2045891"/>
            <a:ext cx="79688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31619" y="2381151"/>
            <a:ext cx="15287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repositório remoto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19150" y="4250630"/>
            <a:ext cx="2654300" cy="1193800"/>
          </a:xfrm>
          <a:prstGeom prst="roundRect">
            <a:avLst>
              <a:gd name="adj" fmla="val 9043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pic>
        <p:nvPicPr>
          <p:cNvPr id="8" name="Image 1" descr="Hom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68500" y="4369991"/>
            <a:ext cx="355600" cy="35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16184" y="4776391"/>
            <a:ext cx="186023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Seu computador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83370" y="5111651"/>
            <a:ext cx="13257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repositório local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718550" y="4250630"/>
            <a:ext cx="2654300" cy="1193800"/>
          </a:xfrm>
          <a:prstGeom prst="roundRect">
            <a:avLst>
              <a:gd name="adj" fmla="val 9043"/>
            </a:avLst>
          </a:prstGeom>
          <a:solidFill>
            <a:srgbClr val="FFFDF8"/>
          </a:solidFill>
          <a:ln w="12700">
            <a:solidFill>
              <a:srgbClr val="9AA3B0"/>
            </a:solidFill>
            <a:prstDash val="solid"/>
          </a:ln>
        </p:spPr>
      </p:sp>
      <p:pic>
        <p:nvPicPr>
          <p:cNvPr id="12" name="Image 2" descr="Use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867900" y="4369991"/>
            <a:ext cx="355600" cy="355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74589" y="4776391"/>
            <a:ext cx="254222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Computador da colega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141668" y="5111651"/>
            <a:ext cx="18079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outro repositório local</a:t>
            </a:r>
            <a:endParaRPr lang="en-US" sz="1200" dirty="0"/>
          </a:p>
        </p:txBody>
      </p:sp>
      <p:pic>
        <p:nvPicPr>
          <p:cNvPr id="15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654300" y="2656780"/>
            <a:ext cx="2667000" cy="1651000"/>
          </a:xfrm>
          <a:prstGeom prst="rect">
            <a:avLst/>
          </a:prstGeom>
        </p:spPr>
      </p:pic>
      <p:pic>
        <p:nvPicPr>
          <p:cNvPr id="16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082800" y="2339280"/>
            <a:ext cx="2806700" cy="1968500"/>
          </a:xfrm>
          <a:prstGeom prst="rect">
            <a:avLst/>
          </a:prstGeom>
        </p:spPr>
      </p:pic>
      <p:pic>
        <p:nvPicPr>
          <p:cNvPr id="17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302500" y="2339280"/>
            <a:ext cx="2806700" cy="1968500"/>
          </a:xfrm>
          <a:prstGeom prst="rect">
            <a:avLst/>
          </a:prstGeom>
        </p:spPr>
      </p:pic>
      <p:pic>
        <p:nvPicPr>
          <p:cNvPr id="18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870700" y="2656780"/>
            <a:ext cx="2667000" cy="16510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368800" y="3545780"/>
            <a:ext cx="1320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952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push</a:t>
            </a:r>
            <a:endParaRPr lang="en-US" sz="1400" dirty="0"/>
          </a:p>
        </p:txBody>
      </p:sp>
      <p:sp>
        <p:nvSpPr>
          <p:cNvPr id="20" name="Text 11"/>
          <p:cNvSpPr/>
          <p:nvPr/>
        </p:nvSpPr>
        <p:spPr>
          <a:xfrm>
            <a:off x="2400300" y="3101280"/>
            <a:ext cx="1320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pull</a:t>
            </a:r>
            <a:endParaRPr lang="en-US" sz="1400" dirty="0"/>
          </a:p>
        </p:txBody>
      </p:sp>
      <p:sp>
        <p:nvSpPr>
          <p:cNvPr id="21" name="Text 12"/>
          <p:cNvSpPr/>
          <p:nvPr/>
        </p:nvSpPr>
        <p:spPr>
          <a:xfrm>
            <a:off x="8813800" y="3101280"/>
            <a:ext cx="1320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pull</a:t>
            </a:r>
            <a:endParaRPr lang="en-US" sz="1400" dirty="0"/>
          </a:p>
        </p:txBody>
      </p:sp>
      <p:sp>
        <p:nvSpPr>
          <p:cNvPr id="22" name="Text 13"/>
          <p:cNvSpPr/>
          <p:nvPr/>
        </p:nvSpPr>
        <p:spPr>
          <a:xfrm>
            <a:off x="7162800" y="3545780"/>
            <a:ext cx="1320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952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push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Clonar: baixar um repositório inteiro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136180"/>
            <a:ext cx="10566400" cy="985441"/>
          </a:xfrm>
          <a:prstGeom prst="roundRect">
            <a:avLst>
              <a:gd name="adj" fmla="val 9021"/>
            </a:avLst>
          </a:prstGeom>
          <a:solidFill>
            <a:srgbClr val="2E3A4E"/>
          </a:solidFill>
          <a:ln/>
        </p:spPr>
        <p:txBody>
          <a:bodyPr wrap="square" lIns="202562" tIns="151762" rIns="0" bIns="126362" rtlCol="0" anchor="t">
            <a:normAutofit/>
          </a:bodyPr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 clone https://github.com/usuario/monitor-b3-aula.git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cd monitor-b3-aula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24150" y="3548261"/>
            <a:ext cx="2781300" cy="1803301"/>
          </a:xfrm>
          <a:prstGeom prst="roundRect">
            <a:avLst>
              <a:gd name="adj" fmla="val 6691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pic>
        <p:nvPicPr>
          <p:cNvPr id="5" name="Image 0" descr="Clou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60800" y="3834011"/>
            <a:ext cx="508000" cy="50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41646" y="4443611"/>
            <a:ext cx="94630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095992" y="4834731"/>
            <a:ext cx="203751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repositório na nuvem</a:t>
            </a:r>
            <a:endParaRPr lang="en-US" sz="1300" dirty="0"/>
          </a:p>
        </p:txBody>
      </p:sp>
      <p:pic>
        <p:nvPicPr>
          <p:cNvPr id="8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0" y="4399161"/>
            <a:ext cx="762000" cy="101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686550" y="3432770"/>
            <a:ext cx="2781300" cy="2034381"/>
          </a:xfrm>
          <a:prstGeom prst="roundRect">
            <a:avLst>
              <a:gd name="adj" fmla="val 5931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pic>
        <p:nvPicPr>
          <p:cNvPr id="10" name="Image 2" descr="Hom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823200" y="3718520"/>
            <a:ext cx="508000" cy="508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17331" y="4328120"/>
            <a:ext cx="171973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sua máquina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6808343" y="4719241"/>
            <a:ext cx="253771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pasta com o projeto e todo o histórico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Branches: linhas de trabalho paralelas</a:t>
            </a:r>
            <a:endParaRPr lang="en-US" sz="3200" dirty="0"/>
          </a:p>
        </p:txBody>
      </p:sp>
      <p:pic>
        <p:nvPicPr>
          <p:cNvPr id="3" name="Image 0" descr="linha principal com um ramo que se separa e volta">    </p:cNvPr>
          <p:cNvPicPr>
            <a:picLocks noChangeAspect="1"/>
          </p:cNvPicPr>
          <p:nvPr/>
        </p:nvPicPr>
        <p:blipFill>
          <a:blip r:embed="rId1"/>
          <a:srcRect l="0" r="0" t="-9" b="-9"/>
          <a:stretch/>
        </p:blipFill>
        <p:spPr>
          <a:xfrm>
            <a:off x="812800" y="1564580"/>
            <a:ext cx="105664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6800" y="3469580"/>
            <a:ext cx="3924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main (ou master)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527800" y="1691580"/>
            <a:ext cx="2616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520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nova-pagina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067800" y="3469580"/>
            <a:ext cx="235458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merge: o ramo volta para a principal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2800" y="4409380"/>
            <a:ext cx="4317603" cy="358080"/>
          </a:xfrm>
          <a:prstGeom prst="roundRect">
            <a:avLst>
              <a:gd name="adj" fmla="val 50000"/>
            </a:avLst>
          </a:prstGeom>
          <a:solidFill>
            <a:srgbClr val="DCE7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Nesta disciplina, trabalhamos só na branch principal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.gitignore: o que fica de fora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2523927"/>
            <a:ext cx="3162300" cy="2561927"/>
          </a:xfrm>
          <a:prstGeom prst="roundRect">
            <a:avLst>
              <a:gd name="adj" fmla="val 4709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4100" y="2758877"/>
            <a:ext cx="277317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.gitignore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4100" y="3111302"/>
            <a:ext cx="2692400" cy="1457722"/>
          </a:xfrm>
          <a:prstGeom prst="roundRect">
            <a:avLst>
              <a:gd name="adj" fmla="val 6099"/>
            </a:avLst>
          </a:prstGeom>
          <a:solidFill>
            <a:srgbClr val="2E3A4E"/>
          </a:solidFill>
          <a:ln/>
        </p:spPr>
        <p:txBody>
          <a:bodyPr wrap="square" lIns="202562" tIns="151762" rIns="135506" bIns="126362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__pycache__/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.env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.streamlit/secrets.toml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4100" y="4645223"/>
            <a:ext cx="2773172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regra por linha</a:t>
            </a:r>
            <a:endParaRPr lang="en-US" sz="1200" dirty="0"/>
          </a:p>
        </p:txBody>
      </p:sp>
      <p:pic>
        <p:nvPicPr>
          <p:cNvPr id="7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91000" y="3754041"/>
            <a:ext cx="508000" cy="10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908550" y="2792710"/>
            <a:ext cx="6464300" cy="929580"/>
          </a:xfrm>
          <a:prstGeom prst="roundRect">
            <a:avLst>
              <a:gd name="adj" fmla="val 11613"/>
            </a:avLst>
          </a:prstGeom>
          <a:solidFill>
            <a:srgbClr val="DCE7FA"/>
          </a:solidFill>
          <a:ln w="12700">
            <a:solidFill>
              <a:srgbClr val="1F5FD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92700" y="2976860"/>
            <a:ext cx="62788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vai para o GitHub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92700" y="3307060"/>
            <a:ext cx="62788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pipeline/ app/ sql/ requirements.txt secrets.toml.example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908550" y="3887391"/>
            <a:ext cx="6464300" cy="929580"/>
          </a:xfrm>
          <a:prstGeom prst="roundRect">
            <a:avLst>
              <a:gd name="adj" fmla="val 11613"/>
            </a:avLst>
          </a:prstGeom>
          <a:solidFill>
            <a:srgbClr val="FBE3D0"/>
          </a:solidFill>
          <a:ln w="12700">
            <a:solidFill>
              <a:srgbClr val="B9520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92700" y="4071541"/>
            <a:ext cx="62788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fica só na sua máquina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92700" y="4401741"/>
            <a:ext cx="62788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.streamlit/secrets.toml __pycache__/ .env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Cuidado: o histórico não esquece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2407940"/>
            <a:ext cx="2019300" cy="1213941"/>
          </a:xfrm>
          <a:prstGeom prst="roundRect">
            <a:avLst>
              <a:gd name="adj" fmla="val 7846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3300" y="2592090"/>
            <a:ext cx="1701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e41b7d0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3300" y="2899370"/>
            <a:ext cx="1701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Adiciona o 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3300" y="3224411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</a:t>
            </a:r>
            <a:endParaRPr lang="en-US" sz="1200" dirty="0"/>
          </a:p>
        </p:txBody>
      </p:sp>
      <p:pic>
        <p:nvPicPr>
          <p:cNvPr id="7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97200" y="2964061"/>
            <a:ext cx="457200" cy="10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13150" y="2283520"/>
            <a:ext cx="2019300" cy="1462782"/>
          </a:xfrm>
          <a:prstGeom prst="roundRect">
            <a:avLst>
              <a:gd name="adj" fmla="val 6512"/>
            </a:avLst>
          </a:prstGeom>
          <a:solidFill>
            <a:srgbClr val="FBE3D0"/>
          </a:solidFill>
          <a:ln w="12700">
            <a:solidFill>
              <a:srgbClr val="B9520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97300" y="2467670"/>
            <a:ext cx="1701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9c0a2b1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797300" y="2774950"/>
            <a:ext cx="17018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Adiciona secrets.toml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797300" y="3348831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 · chave real</a:t>
            </a:r>
            <a:endParaRPr lang="en-US" sz="1200" dirty="0"/>
          </a:p>
        </p:txBody>
      </p:sp>
      <p:pic>
        <p:nvPicPr>
          <p:cNvPr id="12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91200" y="2964061"/>
            <a:ext cx="457200" cy="101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07150" y="2283520"/>
            <a:ext cx="2019300" cy="1462782"/>
          </a:xfrm>
          <a:prstGeom prst="roundRect">
            <a:avLst>
              <a:gd name="adj" fmla="val 6512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91300" y="2467670"/>
            <a:ext cx="1701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FD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f7d3e88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591300" y="2774950"/>
            <a:ext cx="17018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 secrets.toml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91300" y="3348831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12800" y="4006652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Apagar no commit seguinte não basta: a chave continua visível no commit do meio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19150" y="4551462"/>
            <a:ext cx="10553700" cy="774700"/>
          </a:xfrm>
          <a:prstGeom prst="roundRect">
            <a:avLst>
              <a:gd name="adj" fmla="val 13934"/>
            </a:avLst>
          </a:prstGeom>
          <a:solidFill>
            <a:srgbClr val="FBE3D0"/>
          </a:solidFill>
          <a:ln w="12700">
            <a:solidFill>
              <a:srgbClr val="B9520E"/>
            </a:solidFill>
            <a:prstDash val="solid"/>
          </a:ln>
        </p:spPr>
      </p:sp>
      <p:pic>
        <p:nvPicPr>
          <p:cNvPr id="19" name="Image 2" descr="Ke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54100" y="4735612"/>
            <a:ext cx="406400" cy="4064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12900" y="4810224"/>
            <a:ext cx="9035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uma chave secreta foi enviada: gere uma chave nova no serviço e desative a antiga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8DB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4790678"/>
            <a:ext cx="9810750" cy="68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 prática do projeto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5753795"/>
            <a:ext cx="10883392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AEB6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instalar no Windows · primeiro envio · o que mais o GitHub faz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Dois jeitos de enviar o projeto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570930"/>
            <a:ext cx="5143500" cy="4467920"/>
          </a:xfrm>
          <a:prstGeom prst="roundRect">
            <a:avLst>
              <a:gd name="adj" fmla="val 2700"/>
            </a:avLst>
          </a:prstGeom>
          <a:solidFill>
            <a:srgbClr val="FFFDF8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4" name="Image 0" descr="Glob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9500" y="1831280"/>
            <a:ext cx="40640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9500" y="2351980"/>
            <a:ext cx="47614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Pelo navegador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79500" y="2771080"/>
            <a:ext cx="47614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arrasta os arquivos no site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9500" y="3134221"/>
            <a:ext cx="47614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nada para instalar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9500" y="3497362"/>
            <a:ext cx="47614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bom para a primeira vez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9500" y="3860502"/>
            <a:ext cx="47614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atenção: o .gitignore não vale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29350" y="1570930"/>
            <a:ext cx="5143500" cy="4467920"/>
          </a:xfrm>
          <a:prstGeom prst="roundRect">
            <a:avLst>
              <a:gd name="adj" fmla="val 2700"/>
            </a:avLst>
          </a:prstGeom>
          <a:solidFill>
            <a:srgbClr val="FFFDF8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11" name="Image 1" descr="Cod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89700" y="1831280"/>
            <a:ext cx="406400" cy="406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89700" y="2351980"/>
            <a:ext cx="47614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5F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Pelo terminal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89700" y="2771080"/>
            <a:ext cx="47614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 e gh no computador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89700" y="3134221"/>
            <a:ext cx="47614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respeita o .gitignore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89700" y="3497362"/>
            <a:ext cx="47614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melhor para atualizar sempre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89700" y="3860502"/>
            <a:ext cx="47614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equipes usam no dia a dia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Windows: instalar e configurar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249388"/>
            <a:ext cx="6604000" cy="3110905"/>
          </a:xfrm>
          <a:prstGeom prst="roundRect">
            <a:avLst>
              <a:gd name="adj" fmla="val 2858"/>
            </a:avLst>
          </a:prstGeom>
          <a:solidFill>
            <a:srgbClr val="2E3A4E"/>
          </a:solidFill>
          <a:ln/>
        </p:spPr>
        <p:txBody>
          <a:bodyPr wrap="square" lIns="202562" tIns="151762" rIns="18158" bIns="126362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9AA6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1. no PowerShell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winget install --id Git.Git -e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winget install --id GitHub.cli -e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9AA6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2. feche e abra o PowerShell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9AA6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3. uma vez por computador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 config --global user.name </a:t>
            </a:r>
            <a:r>
              <a:rPr lang="en-US" sz="14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"Seu Nome"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 config --global user.email </a:t>
            </a:r>
            <a:r>
              <a:rPr lang="en-US" sz="14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"seu@email"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gh auth login</a:t>
            </a:r>
            <a:endParaRPr lang="en-US" sz="1400" dirty="0"/>
          </a:p>
        </p:txBody>
      </p:sp>
      <p:pic>
        <p:nvPicPr>
          <p:cNvPr id="4" name="Image 0" descr="Setting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1600" y="3053060"/>
            <a:ext cx="30480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0" y="3085405"/>
            <a:ext cx="153602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Git: o programa</a:t>
            </a:r>
            <a:endParaRPr lang="en-US" sz="1400" dirty="0"/>
          </a:p>
        </p:txBody>
      </p:sp>
      <p:pic>
        <p:nvPicPr>
          <p:cNvPr id="6" name="Image 1" descr="Ke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21600" y="3510260"/>
            <a:ext cx="304800" cy="30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28000" y="3542605"/>
            <a:ext cx="345662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gh: login no GitHub pelo navegador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721600" y="3967460"/>
            <a:ext cx="3657600" cy="589161"/>
          </a:xfrm>
          <a:custGeom>
            <a:avLst/>
            <a:gdLst/>
            <a:ahLst/>
            <a:cxnLst/>
            <a:rect l="l" t="t" r="r" b="b"/>
            <a:pathLst>
              <a:path w="3657600" h="589161">
                <a:moveTo>
                  <a:pt x="294580" y="0"/>
                </a:moveTo>
                <a:lnTo>
                  <a:pt x="3363020" y="0"/>
                </a:lnTo>
                <a:arcTo hR="294580" wR="294580" stAng="16200000" swAng="5400000"/>
                <a:lnTo>
                  <a:pt x="3657600" y="294580"/>
                </a:lnTo>
                <a:arcTo hR="294580" wR="294580" stAng="0" swAng="5400000"/>
                <a:lnTo>
                  <a:pt x="294580" y="589161"/>
                </a:lnTo>
                <a:arcTo hR="294580" wR="294580" stAng="5400000" swAng="5400000"/>
                <a:lnTo>
                  <a:pt x="0" y="294580"/>
                </a:lnTo>
                <a:arcTo hR="294580" wR="294580" stAng="10800000" swAng="5400000"/>
                <a:close/>
              </a:path>
            </a:pathLst>
          </a:custGeom>
          <a:solidFill>
            <a:srgbClr val="FBE3D0"/>
          </a:solidFill>
          <a:ln/>
        </p:spPr>
        <p:txBody>
          <a:bodyPr wrap="square" lIns="152400" tIns="63500" rIns="51816" bIns="381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9520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winget: instaladores em git-scm.com e cli.github.com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primeiro envio do projeto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741216"/>
            <a:ext cx="5461000" cy="2127250"/>
          </a:xfrm>
          <a:prstGeom prst="roundRect">
            <a:avLst>
              <a:gd name="adj" fmla="val 4179"/>
            </a:avLst>
          </a:prstGeom>
          <a:solidFill>
            <a:srgbClr val="2E3A4E"/>
          </a:solidFill>
          <a:ln/>
        </p:spPr>
        <p:txBody>
          <a:bodyPr wrap="square" lIns="202562" tIns="151762" rIns="52448" bIns="126362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cd monitor-b3-aula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 init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 add .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 commit -m </a:t>
            </a:r>
            <a:r>
              <a:rPr lang="en-US" sz="1500" dirty="0">
                <a:solidFill>
                  <a:srgbClr val="F4A86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"Primeira versão"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gh repo create monitor-b3-aula \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--public --source=. --push</a:t>
            </a:r>
            <a:endParaRPr lang="en-US" sz="1500" dirty="0"/>
          </a:p>
        </p:txBody>
      </p:sp>
      <p:pic>
        <p:nvPicPr>
          <p:cNvPr id="4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78600" y="3754041"/>
            <a:ext cx="406400" cy="101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6150" y="2122884"/>
            <a:ext cx="4051300" cy="3363913"/>
          </a:xfrm>
          <a:prstGeom prst="roundRect">
            <a:avLst>
              <a:gd name="adj" fmla="val 2832"/>
            </a:avLst>
          </a:prstGeom>
          <a:solidFill>
            <a:srgbClr val="FFFDF8"/>
          </a:solidFill>
          <a:ln w="12700">
            <a:solidFill>
              <a:srgbClr val="D8D3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02500" y="2129234"/>
            <a:ext cx="4038600" cy="330200"/>
          </a:xfrm>
          <a:custGeom>
            <a:avLst/>
            <a:gdLst/>
            <a:ahLst/>
            <a:cxnLst/>
            <a:rect l="l" t="t" r="r" b="b"/>
            <a:pathLst>
              <a:path w="4038600" h="330200">
                <a:moveTo>
                  <a:pt x="0" y="88900"/>
                </a:moveTo>
                <a:arcTo hR="88900" wR="88900" stAng="10800000" swAng="5400000"/>
                <a:lnTo>
                  <a:pt x="3949700" y="0"/>
                </a:lnTo>
                <a:arcTo hR="88900" wR="88900" stAng="16200000" swAng="5400000"/>
                <a:lnTo>
                  <a:pt x="403860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9E5DC"/>
          </a:solidFill>
          <a:ln/>
        </p:spPr>
      </p:sp>
      <p:pic>
        <p:nvPicPr>
          <p:cNvPr id="7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29500" y="2243534"/>
            <a:ext cx="101600" cy="101600"/>
          </a:xfrm>
          <a:prstGeom prst="rect">
            <a:avLst/>
          </a:prstGeom>
        </p:spPr>
      </p:pic>
      <p:pic>
        <p:nvPicPr>
          <p:cNvPr id="8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594600" y="2243534"/>
            <a:ext cx="101600" cy="101600"/>
          </a:xfrm>
          <a:prstGeom prst="rect">
            <a:avLst/>
          </a:prstGeom>
        </p:spPr>
      </p:pic>
      <p:pic>
        <p:nvPicPr>
          <p:cNvPr id="9" name="Image 3" descr="ellips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759700" y="2243534"/>
            <a:ext cx="101600" cy="101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026400" y="2187674"/>
            <a:ext cx="30190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github.com/usuario/monitor-b3-aula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7531100" y="2662634"/>
            <a:ext cx="368884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monitor-b3-aula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7531100" y="3409950"/>
            <a:ext cx="35814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7531100" y="3124895"/>
            <a:ext cx="368884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.github/workflows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7531100" y="3875980"/>
            <a:ext cx="35814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7531100" y="3590925"/>
            <a:ext cx="368884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app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7531100" y="4342011"/>
            <a:ext cx="35814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531100" y="4056955"/>
            <a:ext cx="368884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pipeline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7531100" y="4808041"/>
            <a:ext cx="35814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7531100" y="4522986"/>
            <a:ext cx="368884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sql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531100" y="5274072"/>
            <a:ext cx="35814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531100" y="4989016"/>
            <a:ext cx="368884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README.md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GitHub faz mais do que guardar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55"/>
            <a:ext cx="3414117" cy="2157710"/>
          </a:xfrm>
          <a:prstGeom prst="roundRect">
            <a:avLst>
              <a:gd name="adj" fmla="val 4562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4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950" y="1774130"/>
            <a:ext cx="355600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6950" y="2205930"/>
            <a:ext cx="314373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 e editar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96950" y="2525911"/>
            <a:ext cx="31437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arquivos no navegador, pelo lápis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388842" y="1567755"/>
            <a:ext cx="3414216" cy="2157710"/>
          </a:xfrm>
          <a:prstGeom prst="roundRect">
            <a:avLst>
              <a:gd name="adj" fmla="val 4562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8" name="Image 1" descr="C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69817" y="1774130"/>
            <a:ext cx="355600" cy="35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69817" y="2205930"/>
            <a:ext cx="314383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Histórico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69817" y="2525911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commit, linha a linha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961809" y="1567755"/>
            <a:ext cx="3414216" cy="2157710"/>
          </a:xfrm>
          <a:prstGeom prst="roundRect">
            <a:avLst>
              <a:gd name="adj" fmla="val 4562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12" name="Image 2" descr="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42784" y="1774130"/>
            <a:ext cx="355600" cy="355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42784" y="2205930"/>
            <a:ext cx="314383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Secrets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142784" y="2525911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chaves guardadas com segurança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15975" y="3884216"/>
            <a:ext cx="3414117" cy="2157809"/>
          </a:xfrm>
          <a:prstGeom prst="roundRect">
            <a:avLst>
              <a:gd name="adj" fmla="val 4561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16" name="Image 3" descr="Play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96950" y="4090591"/>
            <a:ext cx="355600" cy="355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96950" y="4522391"/>
            <a:ext cx="314373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996950" y="4842371"/>
            <a:ext cx="31437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programas que rodam na nuvem · Aula 4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388842" y="3884216"/>
            <a:ext cx="3414216" cy="2157809"/>
          </a:xfrm>
          <a:prstGeom prst="roundRect">
            <a:avLst>
              <a:gd name="adj" fmla="val 4561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20" name="Image 4" descr="Cloud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69817" y="4090591"/>
            <a:ext cx="355600" cy="355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69817" y="4522391"/>
            <a:ext cx="314383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Streamlit Cloud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569817" y="4842371"/>
            <a:ext cx="32300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publica o app a partir do repositório · Aula 3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961809" y="3884216"/>
            <a:ext cx="3414216" cy="2157809"/>
          </a:xfrm>
          <a:prstGeom prst="roundRect">
            <a:avLst>
              <a:gd name="adj" fmla="val 4561"/>
            </a:avLst>
          </a:prstGeom>
          <a:solidFill>
            <a:srgbClr val="FFFDF8"/>
          </a:solidFill>
          <a:ln w="6350">
            <a:solidFill>
              <a:srgbClr val="D8D3C8"/>
            </a:solidFill>
            <a:prstDash val="solid"/>
          </a:ln>
        </p:spPr>
      </p:sp>
      <p:pic>
        <p:nvPicPr>
          <p:cNvPr id="24" name="Image 5" descr="Users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42784" y="4090591"/>
            <a:ext cx="355600" cy="3556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142784" y="4522391"/>
            <a:ext cx="314383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Colaboração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8142784" y="4842371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0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várias pessoas no mesmo projeto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4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comandos da aula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2068116"/>
            <a:ext cx="10566400" cy="347345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4" name="Shape 2"/>
          <p:cNvSpPr/>
          <p:nvPr/>
        </p:nvSpPr>
        <p:spPr>
          <a:xfrm>
            <a:off x="11376025" y="2068116"/>
            <a:ext cx="0" cy="347345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5538391"/>
            <a:ext cx="10566400" cy="0"/>
          </a:xfrm>
          <a:prstGeom prst="line">
            <a:avLst/>
          </a:prstGeom>
          <a:noFill/>
          <a:ln w="6350">
            <a:solidFill>
              <a:srgbClr val="D8D3C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80816"/>
          <a:ext cx="10547350" cy="3454400"/>
        </p:xfrm>
        <a:graphic>
          <a:graphicData uri="http://schemas.openxmlformats.org/drawingml/2006/table">
            <a:tbl>
              <a:tblPr/>
              <a:tblGrid>
                <a:gridCol w="4218940"/>
                <a:gridCol w="6328410"/>
              </a:tblGrid>
              <a:tr h="4318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F5FD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comando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F5FD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que faz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5FD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git clone &lt;url&gt;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baixa um repositório (uma vez)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5FD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git status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mostra o que mudou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5FD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git add .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prepara todas as mudanças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5FD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git commit -m "…"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registra uma foto com mensagem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5FD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git push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envia os commits ao GitHub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5FD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git pull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traz os commits novos do GitHub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5FD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git log --oneline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4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lista o histórico, um commit por linha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25600" y="3606800"/>
            <a:ext cx="8940800" cy="381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812800"/>
            <a:ext cx="10883392" cy="68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Agora, ao vivo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388467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05867" y="4064000"/>
            <a:ext cx="157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Instalar Git e gh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149600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667000" y="4064000"/>
            <a:ext cx="157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Configurar e entrar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910634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428034" y="4064000"/>
            <a:ext cx="157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 init e commit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71766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189166" y="4064000"/>
            <a:ext cx="157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Criar e enviar ao GitHub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32800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950200" y="4064000"/>
            <a:ext cx="157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Editar e enviar de novo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193834" y="3302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8DB6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4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711234" y="4064000"/>
            <a:ext cx="157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 o histórico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12800" y="53340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EB6C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aluno sai com o seu repositório monitor-b3-aula no GitHub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la 2 — Git e GitHub">
  <a:themeElements>
    <a:clrScheme name="Aula 2 — Git e GitHub">
      <a:dk1>
        <a:srgbClr val="1C2433"/>
      </a:dk1>
      <a:lt1>
        <a:srgbClr val="F5F3EE"/>
      </a:lt1>
      <a:dk2>
        <a:srgbClr val="525862"/>
      </a:dk2>
      <a:lt2>
        <a:srgbClr val="DFDEDB"/>
      </a:lt2>
      <a:accent1>
        <a:srgbClr val="1F5FD1"/>
      </a:accent1>
      <a:accent2>
        <a:srgbClr val="B9520E"/>
      </a:accent2>
      <a:accent3>
        <a:srgbClr val="8DB6FF"/>
      </a:accent3>
      <a:accent4>
        <a:srgbClr val="FBE3D0"/>
      </a:accent4>
      <a:accent5>
        <a:srgbClr val="566070"/>
      </a:accent5>
      <a:accent6>
        <a:srgbClr val="DCE7FA"/>
      </a:accent6>
      <a:hlink>
        <a:srgbClr val="0563C1"/>
      </a:hlink>
      <a:folHlink>
        <a:srgbClr val="954F72"/>
      </a:folHlink>
    </a:clrScheme>
    <a:fontScheme name="Aula 2 — Git e GitHub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 — Git e GitHub</dc:title>
  <dc:subject/>
  <dc:creator/>
  <cp:lastModifiedBy/>
  <cp:revision>1</cp:revision>
  <dcterms:created xsi:type="dcterms:W3CDTF">2026-10-02T19:45:00Z</dcterms:created>
  <dcterms:modified xsi:type="dcterms:W3CDTF">2026-10-02T19:45:00Z</dcterms:modified>
</cp:coreProperties>
</file>