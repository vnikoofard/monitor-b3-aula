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aula: juntamos as peças das três anteriores. O banco da Aula 1, o repositório da Aula 2 e o Streamlit da Aula 3 viram um sistema que roda sozinho todo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Retomada da visão geral. As duas peças com código, o pipeline e o app, nunca conversam entre si: o pipeline escreve no banco, o app lê do banco. Por isso cada uma pode ser trocada sem mexer na outra; o frontend já foi Lovable e hoje é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schema é a interface entre os programas. Exercício mental: renomear a coluna retorno_previsto quebra o pipeline e o app ao mesmo tempo, sem que nenhum dos dois tenha mudado. Por isso o schema muda pouco e com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tem um relógio: uma vez por dia útil o pipeline renova os dados; durante o dia, os usuários consomem. O app não sabe quando o pipeline rodou. É o mesmo desacoplamento das peças, visto no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bloco: o programa Python que roda todo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main.py lê como uma receita. Começa no banco (a lista de ações) e termina no banco (preços, versão do modelo e previsões). A lista de ações vem da tabela ativos: para acompanhar uma ação nova, basta inserir uma linha, sem mudar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indicadores usam só preços até o dia em questão. O alvo é a única coluna que olha para frente. Não precisamos aprofundar a parte financeira: para a aula, o modelo é um exemplo de ML treinado na nuvem todo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Treina com o passado, mede nos 30 pregões mais recentes. O intervalo de 5 pregões evita que o alvo dos últimos dias de treino, que olha 5 dias à frente, já contenha preços da validação. Depois, retreina com tudo e prevê o último dia, cujo futuro ainda não aconteceu.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Upsert = update ou insert, decidido pela chave primária. Ligação com a Aula 1: a chave composta recusaria uma linha repetida; o upsert, em vez de recusar, atualiza. Resultado: rodar o pipeline duas vezes no mesmo dia não duplica nada, e uma execução que falhou pode simplesmente ser repetida.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pipeline real, o workflow roda tests/teste_offline.py: gera preços sintéticos, roda as 5 etapas com um Supabase falso e confere o que seria gravado. Nenhuma das três checagens consulta o Supabase de verdade: o banco falso guarda numa lista as linhas que receberia, e o teste examina essa lista. As colunas são comparadas com uma lista copiada do schema dentro do próprio teste; por isso, se o schema mudar, essa lista também precisa ser atualizada. Se alguém alterar o código e quebrar algo, a execução para aqui e o banco não recebe dados ruins naquele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bloco: onde o pipeline roda sem ninguém ligar o computador. Retoma o repositório da Aula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fica guardado na máquina depois da execução; por isso o resultado vai para o Supabase. O GitHub Actions é gratuito sem limite em repositórios públicos; em repositórios privados, o plano gratuito inclui 2.000 minutos por mês. Cada execução do pipeline leva poucos minutos, então mesmo um repositório privado usa uma fração pequena dessa cota. A receita fica num arquivo do próprio repositório, que vemos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resumida do arquivo real, que está no repositório. Três perguntas: quando (on), onde (runs-on) e o quê (steps). workflow_dispatch cria o botão Run workflow. Se um passo falha, os seguintes não rodam: por isso o teste vem antes do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campos do cron: minuto, hora, dia do mês, mês e dia da semana (0 = domingo). O asterisco significa qualquer valor. O GitHub usa o horário UTC: 1h da manhã de terça em UTC é 22h de segunda em Brasília. O GitHub pode atrasar alguns minutos nos horários de pico.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chave secreta do Supabase nunca entra no repositório. Ela é cadastrada uma vez nos Secrets do GitHub, entregue ao workflow como variável de ambiente e lida pelo Python com os.environ. Os nomes precisam ser idênticos: SUPABASE_URL e SUPABASE_SERVICE_ROLE_KEY.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aba Actions lista as execuções: verde é sucesso, vermelho é falha, e o GitHub manda e-mail quando uma agendada falha. Dentro, cada passo tem seu log. Na maioria das vezes, a falha é instabilidade do Yahoo: basta Re-run jobs. Datas e horários ilustrativos.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bloco: o caminho do outro lado do banco, o do usuário. Retoma o Streamlit da Aula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publishable foi feita para ser pública: todo navegador que abre o app a recebe, e a RLS protege os dados. A secreta ignora todas as regras; por isso vive num único lugar. Ligação com a Aula 2: se a secreta for enviada ao GitHub, é preciso trocá-la.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usuário digita e-mail e senha; o app chama o Supabase Auth, que devolve dois tokens. A biblioteca guarda os tokens dentro do objeto cliente, e o cliente fica em st.session_state, individual por aba. A partir daí, cada consulta vai com o token, e o Supabase sabe quem está pedindo. O token nunca chega ao navegador: vive no servidor do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passam pelos mesmos lugares; o que muda o resultado é a chave, conferida pela API. O app pede todas as carteiras e recebe só as da Ana, porque o banco acrescenta a condição da política. Retoma o slide de RLS da Aula 1, agora com o caminho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cuidado de segurança mais importante do app, visto na Aula 3. A conexão com o Supabase, que carrega o login, fica em st.session_state, individual por aba. Se ficasse em st.cache_resource, compartilhado por todos, o Bruno herdaria o login da Ana e veria as carteiras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as três aulas: o botão do Streamlit (Aula 3) chama por RPC uma função do banco (Aula 1), que respeita a RLS porque roda como o usuário logado. Setas cheias são pedidos; tracejadas, respostas. A regra de negócio está inteira na caixa laranja, dentro do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repositório alimenta dois serviços: o GitHub Actions roda o pipeline (com a chave secreta nos Secrets do GitHub) e o Streamlit Community Cloud publica o app (com a chave publishable nos Secrets do Streamlit). Um git push atualiza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princípios que valem para sistemas de qualquer tamanho. Projeto pequeno, decisões de gente grande.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implantação, na ordem do guia: secrets no GitHub, primeira execução marcando 'Enviar todo o histórico', conferência das tabelas no Supabase, publicação no Streamlit Cloud e o teste de segurança com dois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tting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47200" y="812800"/>
            <a:ext cx="1219200" cy="121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DE 4 · O SISTEMA COMPLETO</a:t>
            </a:r>
            <a:endParaRPr lang="en-US" sz="13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79713"/>
            <a:ext cx="990600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Monitor B3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12800" y="3777853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E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banco, o pipeline e o app trabalham juntos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822355"/>
            <a:ext cx="108833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E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Vahid Nikoofard · FAT-UERJ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peças, um ponto de contato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20130"/>
            <a:ext cx="3543300" cy="876300"/>
          </a:xfrm>
          <a:prstGeom prst="roundRect">
            <a:avLst>
              <a:gd name="adj" fmla="val 10870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4152" y="1699220"/>
            <a:ext cx="16132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30003" y="2004020"/>
            <a:ext cx="13215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cotações diárias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29550" y="1520130"/>
            <a:ext cx="3543300" cy="876300"/>
          </a:xfrm>
          <a:prstGeom prst="roundRect">
            <a:avLst>
              <a:gd name="adj" fmla="val 10870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43831" y="1699220"/>
            <a:ext cx="17147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20326" y="2004020"/>
            <a:ext cx="25617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seg a sex, 22h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2790130"/>
            <a:ext cx="10553700" cy="1511300"/>
          </a:xfrm>
          <a:prstGeom prst="roundRect">
            <a:avLst>
              <a:gd name="adj" fmla="val 7143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" y="285998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o contrato entre as peças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96950" y="3145730"/>
            <a:ext cx="3289300" cy="1028700"/>
          </a:xfrm>
          <a:prstGeom prst="roundRect">
            <a:avLst>
              <a:gd name="adj" fmla="val 925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1041" y="3275310"/>
            <a:ext cx="13211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14723" y="3580110"/>
            <a:ext cx="145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tabelas, 2 views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8323" y="3831530"/>
            <a:ext cx="10065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função, RLS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51350" y="3145730"/>
            <a:ext cx="3289300" cy="1028700"/>
          </a:xfrm>
          <a:prstGeom prst="roundRect">
            <a:avLst>
              <a:gd name="adj" fmla="val 925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5729" y="3275310"/>
            <a:ext cx="52054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31654" y="3580110"/>
            <a:ext cx="11285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 tokens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64133" y="3831530"/>
            <a:ext cx="1463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cria o perfil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5750" y="3145730"/>
            <a:ext cx="3289300" cy="1028700"/>
          </a:xfrm>
          <a:prstGeom prst="roundRect">
            <a:avLst>
              <a:gd name="adj" fmla="val 925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4761" y="3275310"/>
            <a:ext cx="8511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08283" y="3580110"/>
            <a:ext cx="1484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dos usuários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40524" y="3831530"/>
            <a:ext cx="18197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pasta por usuário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9150" y="4695130"/>
            <a:ext cx="3543300" cy="876300"/>
          </a:xfrm>
          <a:prstGeom prst="roundRect">
            <a:avLst>
              <a:gd name="adj" fmla="val 10870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1582" y="4874220"/>
            <a:ext cx="9783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158603" y="5179020"/>
            <a:ext cx="8643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29550" y="4695130"/>
            <a:ext cx="3543300" cy="876300"/>
          </a:xfrm>
          <a:prstGeom prst="roundRect">
            <a:avLst>
              <a:gd name="adj" fmla="val 10870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58131" y="4874220"/>
            <a:ext cx="14861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Streamlit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88323" y="5179020"/>
            <a:ext cx="22257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Community Cloud</a:t>
            </a:r>
            <a:endParaRPr lang="en-US" sz="1200" dirty="0"/>
          </a:p>
        </p:txBody>
      </p:sp>
      <p:pic>
        <p:nvPicPr>
          <p:cNvPr id="2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18000" y="1907480"/>
            <a:ext cx="3556000" cy="101600"/>
          </a:xfrm>
          <a:prstGeom prst="rect">
            <a:avLst/>
          </a:prstGeom>
        </p:spPr>
      </p:pic>
      <p:pic>
        <p:nvPicPr>
          <p:cNvPr id="3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50400" y="2351980"/>
            <a:ext cx="101600" cy="482600"/>
          </a:xfrm>
          <a:prstGeom prst="rect">
            <a:avLst/>
          </a:prstGeom>
        </p:spPr>
      </p:pic>
      <p:pic>
        <p:nvPicPr>
          <p:cNvPr id="3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50400" y="4256980"/>
            <a:ext cx="101600" cy="482600"/>
          </a:xfrm>
          <a:prstGeom prst="rect">
            <a:avLst/>
          </a:prstGeom>
        </p:spPr>
      </p:pic>
      <p:pic>
        <p:nvPicPr>
          <p:cNvPr id="3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18000" y="5082480"/>
            <a:ext cx="3556000" cy="101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2400" y="1691580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cotações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045835" y="2491680"/>
            <a:ext cx="34664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secreta: lê ativos, grava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045835" y="4396680"/>
            <a:ext cx="34664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publishable + token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232400" y="4866580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é o contrato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7269" y="2508349"/>
            <a:ext cx="2400300" cy="1930202"/>
          </a:xfrm>
          <a:prstGeom prst="roundRect">
            <a:avLst>
              <a:gd name="adj" fmla="val 625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4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04219" y="2768699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1411" y="3263999"/>
            <a:ext cx="10519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09926" y="3627140"/>
            <a:ext cx="17949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no mercado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90675" y="3947120"/>
            <a:ext cx="12334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secreta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20701" y="3290590"/>
            <a:ext cx="488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5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</a:t>
            </a:r>
            <a:endParaRPr lang="en-US" sz="1200" dirty="0"/>
          </a:p>
        </p:txBody>
      </p:sp>
      <p:pic>
        <p:nvPicPr>
          <p:cNvPr id="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15519" y="3554710"/>
            <a:ext cx="698500" cy="101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21969" y="1783358"/>
            <a:ext cx="3543300" cy="3380184"/>
          </a:xfrm>
          <a:prstGeom prst="roundRect">
            <a:avLst>
              <a:gd name="adj" fmla="val 3569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56919" y="2018308"/>
            <a:ext cx="316560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56919" y="2394148"/>
            <a:ext cx="3165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56919" y="2709069"/>
            <a:ext cx="316560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setores · ativos · precos_diarios · modelos · previsoes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56919" y="3503910"/>
            <a:ext cx="3165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56919" y="3818830"/>
            <a:ext cx="316560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profiles · carteiras · carteira_itens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56919" y="4382591"/>
            <a:ext cx="3165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56919" y="4697512"/>
            <a:ext cx="33020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 views · montar_carteira · RLS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973219" y="3290590"/>
            <a:ext cx="8048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5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grava</a:t>
            </a:r>
            <a:endParaRPr lang="en-US" sz="1200" dirty="0"/>
          </a:p>
        </p:txBody>
      </p:sp>
      <p:pic>
        <p:nvPicPr>
          <p:cNvPr id="1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75600" y="3554710"/>
            <a:ext cx="698500" cy="101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784431" y="2508349"/>
            <a:ext cx="2400300" cy="1930202"/>
          </a:xfrm>
          <a:prstGeom prst="roundRect">
            <a:avLst>
              <a:gd name="adj" fmla="val 625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21" name="Image 3" descr="Cha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81381" y="2768699"/>
            <a:ext cx="406400" cy="406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17891" y="3263999"/>
            <a:ext cx="53328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411891" y="3627140"/>
            <a:ext cx="114538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mercado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059347" y="3947120"/>
            <a:ext cx="185046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 só o que é seu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2800" y="5687120"/>
            <a:ext cx="5461099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lados só combinam nomes de tabelas, colunas e funções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dia na vida do sistema</a:t>
            </a:r>
            <a:endParaRPr lang="en-US" sz="3200" dirty="0"/>
          </a:p>
        </p:txBody>
      </p:sp>
      <p:pic>
        <p:nvPicPr>
          <p:cNvPr id="3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3412430"/>
            <a:ext cx="10033000" cy="508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76400" y="3272730"/>
            <a:ext cx="304800" cy="304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6605" y="2656780"/>
            <a:ext cx="248539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95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22h, seg a sex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76605" y="3736280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pipeline roda e grava</a:t>
            </a:r>
            <a:endParaRPr lang="en-US" sz="1400" dirty="0"/>
          </a:p>
        </p:txBody>
      </p:sp>
      <p:pic>
        <p:nvPicPr>
          <p:cNvPr id="7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70400" y="3272730"/>
            <a:ext cx="304800" cy="304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80105" y="2656780"/>
            <a:ext cx="248539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depois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3380105" y="3736280"/>
            <a:ext cx="248539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preços, modelo e ranking no banco</a:t>
            </a:r>
            <a:endParaRPr lang="en-US" sz="1400" dirty="0"/>
          </a:p>
        </p:txBody>
      </p:sp>
      <p:pic>
        <p:nvPicPr>
          <p:cNvPr id="10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91400" y="3272730"/>
            <a:ext cx="304800" cy="304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1105" y="2656780"/>
            <a:ext cx="248539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dia seguinte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301105" y="3736280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monta uma carteira</a:t>
            </a:r>
            <a:endParaRPr lang="en-US" sz="1400" dirty="0"/>
          </a:p>
        </p:txBody>
      </p:sp>
      <p:pic>
        <p:nvPicPr>
          <p:cNvPr id="13" name="Image 4" descr="ellip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85400" y="3272730"/>
            <a:ext cx="304800" cy="3048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95105" y="2656780"/>
            <a:ext cx="248539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pregões depois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9095105" y="3736280"/>
            <a:ext cx="248539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retorno realizado é preenchido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812800" y="5323780"/>
            <a:ext cx="5011043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avisa ninguém: o app só lê o que estiver no banco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790678"/>
            <a:ext cx="9810750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pipeline: do banco ao banco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etapas · indicadores · validação · upsert · teste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etapas, um arquivo cada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27150" y="1520130"/>
            <a:ext cx="4051300" cy="520700"/>
          </a:xfrm>
          <a:prstGeom prst="roundRect">
            <a:avLst>
              <a:gd name="adj" fmla="val 18293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78866" y="1526480"/>
            <a:ext cx="2147768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Actions, 22h</a:t>
            </a:r>
            <a:endParaRPr lang="en-US" sz="1481" dirty="0"/>
          </a:p>
        </p:txBody>
      </p:sp>
      <p:sp>
        <p:nvSpPr>
          <p:cNvPr id="5" name="Text 3"/>
          <p:cNvSpPr/>
          <p:nvPr/>
        </p:nvSpPr>
        <p:spPr>
          <a:xfrm>
            <a:off x="1717367" y="1825625"/>
            <a:ext cx="3270766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o teste sem internet; se falhar, para</a:t>
            </a:r>
            <a:endParaRPr lang="en-US" sz="1196" dirty="0"/>
          </a:p>
        </p:txBody>
      </p:sp>
      <p:sp>
        <p:nvSpPr>
          <p:cNvPr id="6" name="Shape 4"/>
          <p:cNvSpPr/>
          <p:nvPr/>
        </p:nvSpPr>
        <p:spPr>
          <a:xfrm>
            <a:off x="1327150" y="2205930"/>
            <a:ext cx="4051300" cy="520700"/>
          </a:xfrm>
          <a:prstGeom prst="roundRect">
            <a:avLst>
              <a:gd name="adj" fmla="val 1829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06156" y="2212280"/>
            <a:ext cx="1693188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Ler as ações</a:t>
            </a:r>
            <a:endParaRPr lang="en-US" sz="1481" dirty="0"/>
          </a:p>
        </p:txBody>
      </p:sp>
      <p:sp>
        <p:nvSpPr>
          <p:cNvPr id="8" name="Text 6"/>
          <p:cNvSpPr/>
          <p:nvPr/>
        </p:nvSpPr>
        <p:spPr>
          <a:xfrm>
            <a:off x="1988354" y="2511425"/>
            <a:ext cx="2728793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banco.py · ativos com ativo = true</a:t>
            </a:r>
            <a:endParaRPr lang="en-US" sz="1196" dirty="0"/>
          </a:p>
        </p:txBody>
      </p:sp>
      <p:sp>
        <p:nvSpPr>
          <p:cNvPr id="9" name="Shape 7"/>
          <p:cNvSpPr/>
          <p:nvPr/>
        </p:nvSpPr>
        <p:spPr>
          <a:xfrm>
            <a:off x="1327150" y="2891730"/>
            <a:ext cx="4051300" cy="520700"/>
          </a:xfrm>
          <a:prstGeom prst="roundRect">
            <a:avLst>
              <a:gd name="adj" fmla="val 1829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543" y="2898080"/>
            <a:ext cx="2370415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Baixar as cotações</a:t>
            </a:r>
            <a:endParaRPr lang="en-US" sz="1481" dirty="0"/>
          </a:p>
        </p:txBody>
      </p:sp>
      <p:sp>
        <p:nvSpPr>
          <p:cNvPr id="11" name="Text 9"/>
          <p:cNvSpPr/>
          <p:nvPr/>
        </p:nvSpPr>
        <p:spPr>
          <a:xfrm>
            <a:off x="1872387" y="3197225"/>
            <a:ext cx="2960727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dados.py · 3 anos do Yahoo Finance</a:t>
            </a:r>
            <a:endParaRPr lang="en-US" sz="1196" dirty="0"/>
          </a:p>
        </p:txBody>
      </p:sp>
      <p:sp>
        <p:nvSpPr>
          <p:cNvPr id="12" name="Shape 10"/>
          <p:cNvSpPr/>
          <p:nvPr/>
        </p:nvSpPr>
        <p:spPr>
          <a:xfrm>
            <a:off x="1327150" y="3577530"/>
            <a:ext cx="4051300" cy="520700"/>
          </a:xfrm>
          <a:prstGeom prst="roundRect">
            <a:avLst>
              <a:gd name="adj" fmla="val 1829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0032" y="3583880"/>
            <a:ext cx="2545437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Calcular indicadores</a:t>
            </a:r>
            <a:endParaRPr lang="en-US" sz="1481" dirty="0"/>
          </a:p>
        </p:txBody>
      </p:sp>
      <p:sp>
        <p:nvSpPr>
          <p:cNvPr id="14" name="Text 12"/>
          <p:cNvSpPr/>
          <p:nvPr/>
        </p:nvSpPr>
        <p:spPr>
          <a:xfrm>
            <a:off x="1798330" y="3883025"/>
            <a:ext cx="3108841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indicadores.py · 8 indicadores e o alvo</a:t>
            </a:r>
            <a:endParaRPr lang="en-US" sz="1196" dirty="0"/>
          </a:p>
        </p:txBody>
      </p:sp>
      <p:sp>
        <p:nvSpPr>
          <p:cNvPr id="15" name="Shape 13"/>
          <p:cNvSpPr/>
          <p:nvPr/>
        </p:nvSpPr>
        <p:spPr>
          <a:xfrm>
            <a:off x="1327150" y="4263330"/>
            <a:ext cx="4051300" cy="520700"/>
          </a:xfrm>
          <a:prstGeom prst="roundRect">
            <a:avLst>
              <a:gd name="adj" fmla="val 1829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3160" y="4269680"/>
            <a:ext cx="2019181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Treinar e prever</a:t>
            </a:r>
            <a:endParaRPr lang="en-US" sz="1481" dirty="0"/>
          </a:p>
        </p:txBody>
      </p:sp>
      <p:sp>
        <p:nvSpPr>
          <p:cNvPr id="17" name="Text 15"/>
          <p:cNvSpPr/>
          <p:nvPr/>
        </p:nvSpPr>
        <p:spPr>
          <a:xfrm>
            <a:off x="1808569" y="4568825"/>
            <a:ext cx="3088362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modelo.py · XGBoost, IC na validação</a:t>
            </a:r>
            <a:endParaRPr lang="en-US" sz="1196" dirty="0"/>
          </a:p>
        </p:txBody>
      </p:sp>
      <p:sp>
        <p:nvSpPr>
          <p:cNvPr id="18" name="Shape 16"/>
          <p:cNvSpPr/>
          <p:nvPr/>
        </p:nvSpPr>
        <p:spPr>
          <a:xfrm>
            <a:off x="1327150" y="4949130"/>
            <a:ext cx="4051300" cy="520700"/>
          </a:xfrm>
          <a:prstGeom prst="roundRect">
            <a:avLst>
              <a:gd name="adj" fmla="val 1829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93263" y="4955480"/>
            <a:ext cx="2119074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Gravar no banco</a:t>
            </a:r>
            <a:endParaRPr lang="en-US" sz="1481" dirty="0"/>
          </a:p>
        </p:txBody>
      </p:sp>
      <p:sp>
        <p:nvSpPr>
          <p:cNvPr id="20" name="Text 18"/>
          <p:cNvSpPr/>
          <p:nvPr/>
        </p:nvSpPr>
        <p:spPr>
          <a:xfrm>
            <a:off x="2082046" y="5254625"/>
            <a:ext cx="2541508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banco.py · upsert, sem duplicar</a:t>
            </a:r>
            <a:endParaRPr lang="en-US" sz="1196" dirty="0"/>
          </a:p>
        </p:txBody>
      </p:sp>
      <p:pic>
        <p:nvPicPr>
          <p:cNvPr id="21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2000" y="1996380"/>
            <a:ext cx="101600" cy="254000"/>
          </a:xfrm>
          <a:prstGeom prst="rect">
            <a:avLst/>
          </a:prstGeom>
        </p:spPr>
      </p:pic>
      <p:pic>
        <p:nvPicPr>
          <p:cNvPr id="22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02000" y="2682180"/>
            <a:ext cx="101600" cy="254000"/>
          </a:xfrm>
          <a:prstGeom prst="rect">
            <a:avLst/>
          </a:prstGeom>
        </p:spPr>
      </p:pic>
      <p:pic>
        <p:nvPicPr>
          <p:cNvPr id="23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02000" y="3367980"/>
            <a:ext cx="101600" cy="254000"/>
          </a:xfrm>
          <a:prstGeom prst="rect">
            <a:avLst/>
          </a:prstGeom>
        </p:spPr>
      </p:pic>
      <p:pic>
        <p:nvPicPr>
          <p:cNvPr id="24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02000" y="4053780"/>
            <a:ext cx="101600" cy="254000"/>
          </a:xfrm>
          <a:prstGeom prst="rect">
            <a:avLst/>
          </a:prstGeom>
        </p:spPr>
      </p:pic>
      <p:pic>
        <p:nvPicPr>
          <p:cNvPr id="25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02000" y="4739580"/>
            <a:ext cx="101600" cy="2540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407150" y="2205930"/>
            <a:ext cx="3543300" cy="520700"/>
          </a:xfrm>
          <a:prstGeom prst="roundRect">
            <a:avLst>
              <a:gd name="adj" fmla="val 1829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219513" y="2212280"/>
            <a:ext cx="1918573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ativos</a:t>
            </a:r>
            <a:endParaRPr lang="en-US" sz="1481" dirty="0"/>
          </a:p>
        </p:txBody>
      </p:sp>
      <p:sp>
        <p:nvSpPr>
          <p:cNvPr id="28" name="Text 21"/>
          <p:cNvSpPr/>
          <p:nvPr/>
        </p:nvSpPr>
        <p:spPr>
          <a:xfrm>
            <a:off x="7545864" y="2511425"/>
            <a:ext cx="1265873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de ações</a:t>
            </a:r>
            <a:endParaRPr lang="en-US" sz="1196" dirty="0"/>
          </a:p>
        </p:txBody>
      </p:sp>
      <p:pic>
        <p:nvPicPr>
          <p:cNvPr id="29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46700" y="2415480"/>
            <a:ext cx="1104900" cy="1016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407150" y="2891730"/>
            <a:ext cx="3543300" cy="520700"/>
          </a:xfrm>
          <a:prstGeom prst="roundRect">
            <a:avLst>
              <a:gd name="adj" fmla="val 1829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382629" y="2898080"/>
            <a:ext cx="1592342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</a:t>
            </a:r>
            <a:endParaRPr lang="en-US" sz="1481" dirty="0"/>
          </a:p>
        </p:txBody>
      </p:sp>
      <p:sp>
        <p:nvSpPr>
          <p:cNvPr id="32" name="Text 24"/>
          <p:cNvSpPr/>
          <p:nvPr/>
        </p:nvSpPr>
        <p:spPr>
          <a:xfrm>
            <a:off x="7581463" y="3197225"/>
            <a:ext cx="1194673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cotações (.SA)</a:t>
            </a:r>
            <a:endParaRPr lang="en-US" sz="1196" dirty="0"/>
          </a:p>
        </p:txBody>
      </p:sp>
      <p:pic>
        <p:nvPicPr>
          <p:cNvPr id="33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346700" y="3101280"/>
            <a:ext cx="1104900" cy="10160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7150" y="4949130"/>
            <a:ext cx="3543300" cy="520700"/>
          </a:xfrm>
          <a:prstGeom prst="roundRect">
            <a:avLst>
              <a:gd name="adj" fmla="val 18293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7645767" y="4955480"/>
            <a:ext cx="1065967" cy="286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81" dirty="0"/>
          </a:p>
        </p:txBody>
      </p:sp>
      <p:sp>
        <p:nvSpPr>
          <p:cNvPr id="36" name="Text 27"/>
          <p:cNvSpPr/>
          <p:nvPr/>
        </p:nvSpPr>
        <p:spPr>
          <a:xfrm>
            <a:off x="7115582" y="5254625"/>
            <a:ext cx="2126337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DC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preços, modelo, previsões</a:t>
            </a:r>
            <a:endParaRPr lang="en-US" sz="1196" dirty="0"/>
          </a:p>
        </p:txBody>
      </p:sp>
      <p:pic>
        <p:nvPicPr>
          <p:cNvPr id="37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34000" y="5158680"/>
            <a:ext cx="11049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vê 8 resumos de cada 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2540000" cy="869851"/>
          </a:xfrm>
          <a:prstGeom prst="roundRect">
            <a:avLst>
              <a:gd name="adj" fmla="val 11315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748730"/>
            <a:ext cx="224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retorno_5d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950" y="2043311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subiu na semana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89325" y="1567755"/>
            <a:ext cx="2540000" cy="869851"/>
          </a:xfrm>
          <a:prstGeom prst="roundRect">
            <a:avLst>
              <a:gd name="adj" fmla="val 11315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0300" y="1748730"/>
            <a:ext cx="224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retorno_21d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70300" y="2043311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subiu no mês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62675" y="1567755"/>
            <a:ext cx="2540000" cy="869851"/>
          </a:xfrm>
          <a:prstGeom prst="roundRect">
            <a:avLst>
              <a:gd name="adj" fmla="val 11315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3650" y="1748730"/>
            <a:ext cx="224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retorno_63d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3650" y="2043311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subiu no trimestre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36025" y="1567755"/>
            <a:ext cx="2540000" cy="869851"/>
          </a:xfrm>
          <a:prstGeom prst="roundRect">
            <a:avLst>
              <a:gd name="adj" fmla="val 11315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17000" y="1748730"/>
            <a:ext cx="224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volatilidade_21d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17000" y="2043311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oscilou no mês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975" y="2570956"/>
            <a:ext cx="2540000" cy="869851"/>
          </a:xfrm>
          <a:prstGeom prst="roundRect">
            <a:avLst>
              <a:gd name="adj" fmla="val 11315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950" y="2751931"/>
            <a:ext cx="224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rsi_14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6950" y="3046512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relativa, de 0 a 100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89325" y="2570956"/>
            <a:ext cx="2540000" cy="869851"/>
          </a:xfrm>
          <a:prstGeom prst="roundRect">
            <a:avLst>
              <a:gd name="adj" fmla="val 11315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0300" y="2751931"/>
            <a:ext cx="224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distancia_mm20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70300" y="3046512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× média de 20 dias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2675" y="2570956"/>
            <a:ext cx="2540000" cy="869851"/>
          </a:xfrm>
          <a:prstGeom prst="roundRect">
            <a:avLst>
              <a:gd name="adj" fmla="val 11315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51931"/>
            <a:ext cx="224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distancia_mm50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43650" y="3046512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× média de 50 dias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36025" y="2570956"/>
            <a:ext cx="2540000" cy="869851"/>
          </a:xfrm>
          <a:prstGeom prst="roundRect">
            <a:avLst>
              <a:gd name="adj" fmla="val 11315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7000" y="2751931"/>
            <a:ext cx="224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volume_relativo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17000" y="3046512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de hoje × o normal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9150" y="3755132"/>
            <a:ext cx="10553700" cy="895945"/>
          </a:xfrm>
          <a:prstGeom prst="roundRect">
            <a:avLst>
              <a:gd name="adj" fmla="val 12049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pic>
        <p:nvPicPr>
          <p:cNvPr id="28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4100" y="3999905"/>
            <a:ext cx="406400" cy="4064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38300" y="3939282"/>
            <a:ext cx="568185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alvo = retorno dos próximos 5 pregões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38300" y="4244082"/>
            <a:ext cx="661963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única coluna que olha para o futuro; é o que o XGBoost aprende a prever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em dias que o modelo nunca viu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171700"/>
            <a:ext cx="5886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Medir a qualidade (IC)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9150" y="2495550"/>
            <a:ext cx="5702300" cy="3429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35750" y="2495550"/>
            <a:ext cx="596900" cy="3429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AA3B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46950" y="2495550"/>
            <a:ext cx="2654300" cy="342900"/>
          </a:xfrm>
          <a:prstGeom prst="roundRect">
            <a:avLst>
              <a:gd name="adj" fmla="val 16667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· 30 pregões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15550" y="2495550"/>
            <a:ext cx="1257300" cy="342900"/>
          </a:xfrm>
          <a:prstGeom prst="roundRect">
            <a:avLst>
              <a:gd name="adj" fmla="val 16667"/>
            </a:avLst>
          </a:prstGeom>
          <a:solidFill>
            <a:srgbClr val="ECE9E2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alvo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73800" y="29210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pregões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83800" y="29210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últimos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378200"/>
            <a:ext cx="5886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Modelo final e previsão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9150" y="3702050"/>
            <a:ext cx="9182100" cy="3429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com todos os dias que já têm alvo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15550" y="3702050"/>
            <a:ext cx="1257300" cy="342900"/>
          </a:xfrm>
          <a:prstGeom prst="roundRect">
            <a:avLst>
              <a:gd name="adj" fmla="val 16667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prevê</a:t>
            </a:r>
            <a:endParaRPr lang="en-US" sz="1300" dirty="0"/>
          </a:p>
        </p:txBody>
      </p:sp>
      <p:pic>
        <p:nvPicPr>
          <p:cNvPr id="13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394200"/>
            <a:ext cx="10566400" cy="381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2800" y="44958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passado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63000" y="4495800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79800" y="4495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de escala: 3 anos no total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5080000"/>
            <a:ext cx="5121573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Embaralhar os dados faria o modelo parecer melhor do que 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Upsert: gravar sem duplicar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3067050"/>
            <a:ext cx="2781300" cy="812800"/>
          </a:xfrm>
          <a:prstGeom prst="roundRect">
            <a:avLst>
              <a:gd name="adj" fmla="val 1171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4501" y="3214390"/>
            <a:ext cx="11304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linha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5965" y="3519190"/>
            <a:ext cx="23076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PETR4 · 2026-09-30 · 38.45</a:t>
            </a:r>
            <a:endParaRPr lang="en-US" sz="1200" dirty="0"/>
          </a:p>
        </p:txBody>
      </p:sp>
      <p:pic>
        <p:nvPicPr>
          <p:cNvPr id="6" name="Image 0" descr="diamo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68800" y="2711450"/>
            <a:ext cx="2667000" cy="152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55820" y="3289300"/>
            <a:ext cx="20929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chave já existe?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312150" y="2114550"/>
            <a:ext cx="3060700" cy="812800"/>
          </a:xfrm>
          <a:prstGeom prst="roundRect">
            <a:avLst>
              <a:gd name="adj" fmla="val 11719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30901" y="2261890"/>
            <a:ext cx="8231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UPDATE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41065" y="2566690"/>
            <a:ext cx="20028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 a linha existente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12150" y="4019550"/>
            <a:ext cx="3060700" cy="812800"/>
          </a:xfrm>
          <a:prstGeom prst="roundRect">
            <a:avLst>
              <a:gd name="adj" fmla="val 1171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30901" y="4166890"/>
            <a:ext cx="8231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INSERT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76583" y="4471690"/>
            <a:ext cx="13318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a linha nova</a:t>
            </a:r>
            <a:endParaRPr lang="en-US" sz="1200" dirty="0"/>
          </a:p>
        </p:txBody>
      </p:sp>
      <p:pic>
        <p:nvPicPr>
          <p:cNvPr id="1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56000" y="3422650"/>
            <a:ext cx="863600" cy="101600"/>
          </a:xfrm>
          <a:prstGeom prst="rect">
            <a:avLst/>
          </a:prstGeom>
        </p:spPr>
      </p:pic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51500" y="2470150"/>
            <a:ext cx="2705100" cy="292100"/>
          </a:xfrm>
          <a:prstGeom prst="rect">
            <a:avLst/>
          </a:prstGeom>
        </p:spPr>
      </p:pic>
      <p:pic>
        <p:nvPicPr>
          <p:cNvPr id="1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51500" y="4184650"/>
            <a:ext cx="2705100" cy="2921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29300" y="2298700"/>
            <a:ext cx="812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829300" y="4457700"/>
            <a:ext cx="812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12800" y="5143500"/>
            <a:ext cx="1915319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preços: ticker + data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2829719" y="5143500"/>
            <a:ext cx="2144812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previsões: data + ticker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076130" y="5143500"/>
            <a:ext cx="1616968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modelos: versao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antes de gravar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834977"/>
            <a:ext cx="3289300" cy="1003300"/>
          </a:xfrm>
          <a:prstGeom prst="roundRect">
            <a:avLst>
              <a:gd name="adj" fmla="val 949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11400" y="2906117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5473" y="3249017"/>
            <a:ext cx="19565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sem internet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76007" y="3553817"/>
            <a:ext cx="27755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sintéticos e Supabase falso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48550" y="1818977"/>
            <a:ext cx="3924300" cy="939800"/>
          </a:xfrm>
          <a:prstGeom prst="roundRect">
            <a:avLst>
              <a:gd name="adj" fmla="val 10135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10531" y="2029817"/>
            <a:ext cx="8003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passou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78748" y="2334617"/>
            <a:ext cx="2663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pipeline roda e grava no banco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48550" y="3914477"/>
            <a:ext cx="3924300" cy="939800"/>
          </a:xfrm>
          <a:prstGeom prst="roundRect">
            <a:avLst>
              <a:gd name="adj" fmla="val 10135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67800" y="4125317"/>
            <a:ext cx="685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falhou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8958" y="4430117"/>
            <a:ext cx="326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em vermelho; nada é gravado</a:t>
            </a:r>
            <a:endParaRPr lang="en-US" sz="1200" dirty="0"/>
          </a:p>
        </p:txBody>
      </p:sp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64000" y="2238077"/>
            <a:ext cx="3429000" cy="1149350"/>
          </a:xfrm>
          <a:prstGeom prst="rect">
            <a:avLst/>
          </a:prstGeom>
        </p:spPr>
      </p:pic>
      <p:pic>
        <p:nvPicPr>
          <p:cNvPr id="1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64000" y="3285827"/>
            <a:ext cx="3429000" cy="11493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800" y="5114627"/>
            <a:ext cx="108833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Supabase falso só anota o que receberia. O teste então confere essa anotação: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5439073"/>
            <a:ext cx="3314502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colunas batem com as do schema?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228902" y="5439073"/>
            <a:ext cx="3213298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os últimos 10 pregões de preços?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543800" y="5439073"/>
            <a:ext cx="2946896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retorno realizado foi calculado?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132362"/>
            <a:ext cx="9810750" cy="1342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Actions: o pipeline na nuvem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· cron · secrets · acompanhar execuções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computador emprestado pelo GitHub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5200650" cy="1164630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936750"/>
            <a:ext cx="2337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400" dirty="0"/>
          </a:p>
        </p:txBody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57709" y="197227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65709" y="1897360"/>
            <a:ext cx="17200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 a hora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65709" y="2189460"/>
            <a:ext cx="20031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22h, de segunda a sexta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5375" y="1567755"/>
            <a:ext cx="5200650" cy="1164630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1750" y="1936750"/>
            <a:ext cx="2337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400" dirty="0"/>
          </a:p>
        </p:txBody>
      </p:sp>
      <p:pic>
        <p:nvPicPr>
          <p:cNvPr id="10" name="Image 1" descr="Clou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17109" y="1972270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5109" y="1897360"/>
            <a:ext cx="20070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uma máquina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25109" y="2189460"/>
            <a:ext cx="17233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novo, vazio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5975" y="2891135"/>
            <a:ext cx="5200650" cy="1164630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2350" y="3260130"/>
            <a:ext cx="2337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400" dirty="0"/>
          </a:p>
        </p:txBody>
      </p:sp>
      <p:pic>
        <p:nvPicPr>
          <p:cNvPr id="15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57709" y="3295650"/>
            <a:ext cx="355600" cy="355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65709" y="3220740"/>
            <a:ext cx="209561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o repositório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865709" y="3512840"/>
            <a:ext cx="1798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do GitHub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5375" y="2891135"/>
            <a:ext cx="5200650" cy="1164630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81750" y="3260130"/>
            <a:ext cx="2337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400" dirty="0"/>
          </a:p>
        </p:txBody>
      </p:sp>
      <p:pic>
        <p:nvPicPr>
          <p:cNvPr id="20" name="Image 3" descr="Setting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17109" y="3295650"/>
            <a:ext cx="355600" cy="355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5109" y="3220740"/>
            <a:ext cx="22996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as bibliotecas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25109" y="3512840"/>
            <a:ext cx="22996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5975" y="4214515"/>
            <a:ext cx="5200650" cy="1164630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022350" y="4583509"/>
            <a:ext cx="2337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2400" dirty="0"/>
          </a:p>
        </p:txBody>
      </p:sp>
      <p:pic>
        <p:nvPicPr>
          <p:cNvPr id="25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57709" y="4619030"/>
            <a:ext cx="355600" cy="355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65709" y="4544120"/>
            <a:ext cx="138926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865709" y="4836220"/>
            <a:ext cx="16061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teste sem internet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75375" y="4214515"/>
            <a:ext cx="5200650" cy="1164630"/>
          </a:xfrm>
          <a:prstGeom prst="roundRect">
            <a:avLst>
              <a:gd name="adj" fmla="val 845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81750" y="4583509"/>
            <a:ext cx="2337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endParaRPr lang="en-US" sz="2400" dirty="0"/>
          </a:p>
        </p:txBody>
      </p:sp>
      <p:pic>
        <p:nvPicPr>
          <p:cNvPr id="30" name="Image 5" descr="Play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717109" y="4619030"/>
            <a:ext cx="355600" cy="355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25109" y="4544120"/>
            <a:ext cx="16523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o pipeline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225109" y="4836220"/>
            <a:ext cx="1921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máquina é apagada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2800" y="5687120"/>
            <a:ext cx="6332538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Grátis: sem limite em repositório público; 2.000 minutos por mês em privado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receita: .github/workflows/pipeline-diario.yml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746250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1C2433"/>
          </a:solidFill>
          <a:ln/>
        </p:spPr>
        <p:txBody>
          <a:bodyPr wrap="square" lIns="224242" tIns="173442" rIns="48982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name: Pipeline diário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DB6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</a:t>
            </a: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schedule: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- cron: </a:t>
            </a:r>
            <a:r>
              <a:rPr lang="en-US" sz="1200" dirty="0">
                <a:solidFill>
                  <a:srgbClr val="F4A86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 1 * * 2-6"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workflow_dispatch: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DB6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jobs</a:t>
            </a: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pipeline: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runs-on: ubuntu-24.04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00" dirty="0">
                <a:solidFill>
                  <a:srgbClr val="8DB6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steps</a:t>
            </a: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uses: actions/checkout@v6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uses: actions/setup-python@v6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run: pip install -r requirements.txt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run: python -m tests.teste_offline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run: python -m pipeline.main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env: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SUPABASE_URL: ${{ secrets.SUPABASE_URL }}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486650" y="2230239"/>
            <a:ext cx="0" cy="637480"/>
          </a:xfrm>
          <a:prstGeom prst="line">
            <a:avLst/>
          </a:prstGeom>
          <a:noFill/>
          <a:ln w="38100">
            <a:solidFill>
              <a:srgbClr val="B952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58100" y="2281039"/>
            <a:ext cx="38327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58100" y="2585839"/>
            <a:ext cx="38327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roda: no relógio ou no botão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86650" y="3045520"/>
            <a:ext cx="0" cy="637480"/>
          </a:xfrm>
          <a:prstGeom prst="line">
            <a:avLst/>
          </a:prstGeom>
          <a:noFill/>
          <a:ln w="38100">
            <a:solidFill>
              <a:srgbClr val="B952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8100" y="3096320"/>
            <a:ext cx="38327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runs-on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58100" y="3401120"/>
            <a:ext cx="38327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que máquina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86650" y="3860800"/>
            <a:ext cx="0" cy="637480"/>
          </a:xfrm>
          <a:prstGeom prst="line">
            <a:avLst/>
          </a:prstGeom>
          <a:noFill/>
          <a:ln w="38100">
            <a:solidFill>
              <a:srgbClr val="B952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58100" y="3911600"/>
            <a:ext cx="38327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58100" y="4216400"/>
            <a:ext cx="38327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roda, em ordem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86650" y="4676080"/>
            <a:ext cx="0" cy="650180"/>
          </a:xfrm>
          <a:prstGeom prst="line">
            <a:avLst/>
          </a:prstGeom>
          <a:noFill/>
          <a:ln w="38100">
            <a:solidFill>
              <a:srgbClr val="B952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8100" y="4726880"/>
            <a:ext cx="38327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secrets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58100" y="5044380"/>
            <a:ext cx="38327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chaves, fora do código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relógio: uma expressão cron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639120"/>
            <a:ext cx="1978620" cy="1724521"/>
          </a:xfrm>
          <a:prstGeom prst="roundRect">
            <a:avLst>
              <a:gd name="adj" fmla="val 6996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88919" y="2899470"/>
            <a:ext cx="438983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488192" y="3854450"/>
            <a:ext cx="64043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62870" y="2639120"/>
            <a:ext cx="1978720" cy="1724521"/>
          </a:xfrm>
          <a:prstGeom prst="roundRect">
            <a:avLst>
              <a:gd name="adj" fmla="val 6996"/>
            </a:avLst>
          </a:prstGeom>
          <a:solidFill>
            <a:srgbClr val="FFFDF8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2738" y="2899470"/>
            <a:ext cx="438983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18771" y="3854450"/>
            <a:ext cx="10669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(UTC)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06690" y="2639120"/>
            <a:ext cx="1978620" cy="1724521"/>
          </a:xfrm>
          <a:prstGeom prst="roundRect">
            <a:avLst>
              <a:gd name="adj" fmla="val 6996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6459" y="2899470"/>
            <a:ext cx="438983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*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574149" y="3854450"/>
            <a:ext cx="104370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do mês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50410" y="2639120"/>
            <a:ext cx="1978720" cy="1724521"/>
          </a:xfrm>
          <a:prstGeom prst="roundRect">
            <a:avLst>
              <a:gd name="adj" fmla="val 6996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0278" y="2899470"/>
            <a:ext cx="438983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*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038147" y="3854450"/>
            <a:ext cx="4031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94230" y="2639120"/>
            <a:ext cx="1978620" cy="1724521"/>
          </a:xfrm>
          <a:prstGeom prst="roundRect">
            <a:avLst>
              <a:gd name="adj" fmla="val 6996"/>
            </a:avLst>
          </a:prstGeom>
          <a:solidFill>
            <a:srgbClr val="FFFDF8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5015" y="2899470"/>
            <a:ext cx="131695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2-6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683690" y="3854450"/>
            <a:ext cx="139969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da semana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78484" y="4674791"/>
            <a:ext cx="279449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01:00 UTC, ter a sáb</a:t>
            </a:r>
            <a:endParaRPr lang="en-US" sz="1700" dirty="0"/>
          </a:p>
        </p:txBody>
      </p:sp>
      <p:pic>
        <p:nvPicPr>
          <p:cNvPr id="1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72980" y="4775101"/>
            <a:ext cx="609600" cy="101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085780" y="4674791"/>
            <a:ext cx="435328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22:00 em Brasília, seg a sex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Secrets: a chave chega sem aparecer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46150" y="2456259"/>
            <a:ext cx="2146300" cy="2034381"/>
          </a:xfrm>
          <a:prstGeom prst="roundRect">
            <a:avLst>
              <a:gd name="adj" fmla="val 593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4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65300" y="2742009"/>
            <a:ext cx="508000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3336" y="3351609"/>
            <a:ext cx="209192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Secrets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77468" y="3742730"/>
            <a:ext cx="188366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› Secrets › Actions</a:t>
            </a:r>
            <a:endParaRPr lang="en-US" sz="1300" dirty="0"/>
          </a:p>
        </p:txBody>
      </p:sp>
      <p:pic>
        <p:nvPicPr>
          <p:cNvPr id="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3422650"/>
            <a:ext cx="355600" cy="101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63950" y="2571750"/>
            <a:ext cx="2146300" cy="1803301"/>
          </a:xfrm>
          <a:prstGeom prst="roundRect">
            <a:avLst>
              <a:gd name="adj" fmla="val 669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9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83100" y="2857500"/>
            <a:ext cx="508000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09641" y="3467100"/>
            <a:ext cx="12549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3866882" y="3858220"/>
            <a:ext cx="174033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${{ secrets.X }}</a:t>
            </a:r>
            <a:endParaRPr lang="en-US" sz="1300" dirty="0"/>
          </a:p>
        </p:txBody>
      </p:sp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3422650"/>
            <a:ext cx="355600" cy="101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381750" y="2571750"/>
            <a:ext cx="2146300" cy="1803301"/>
          </a:xfrm>
          <a:prstGeom prst="roundRect">
            <a:avLst>
              <a:gd name="adj" fmla="val 669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14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00900" y="2857500"/>
            <a:ext cx="508000" cy="508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64243" y="3467100"/>
            <a:ext cx="98131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6806367" y="3858220"/>
            <a:ext cx="129706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os.environ["X"]</a:t>
            </a:r>
            <a:endParaRPr lang="en-US" sz="1300" dirty="0"/>
          </a:p>
        </p:txBody>
      </p:sp>
      <p:pic>
        <p:nvPicPr>
          <p:cNvPr id="17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36000" y="3422650"/>
            <a:ext cx="355600" cy="1016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099550" y="2456259"/>
            <a:ext cx="2146300" cy="2034381"/>
          </a:xfrm>
          <a:prstGeom prst="roundRect">
            <a:avLst>
              <a:gd name="adj" fmla="val 5931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9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918700" y="2742009"/>
            <a:ext cx="508000" cy="5080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488686" y="3351609"/>
            <a:ext cx="136802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900" dirty="0"/>
          </a:p>
        </p:txBody>
      </p:sp>
      <p:sp>
        <p:nvSpPr>
          <p:cNvPr id="21" name="Text 12"/>
          <p:cNvSpPr/>
          <p:nvPr/>
        </p:nvSpPr>
        <p:spPr>
          <a:xfrm>
            <a:off x="9230868" y="3742730"/>
            <a:ext cx="188366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com a chave secreta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3056632" y="5687120"/>
            <a:ext cx="1754584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log, aparece ***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4912816" y="5687120"/>
            <a:ext cx="4222552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salvo, ninguém consegue ver, só trocar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uma execução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341364"/>
            <a:ext cx="4813300" cy="2927052"/>
          </a:xfrm>
          <a:prstGeom prst="roundRect">
            <a:avLst>
              <a:gd name="adj" fmla="val 3254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5500" y="2347714"/>
            <a:ext cx="4800600" cy="330200"/>
          </a:xfrm>
          <a:custGeom>
            <a:avLst/>
            <a:gdLst/>
            <a:ahLst/>
            <a:cxnLst/>
            <a:rect l="l" t="t" r="r" b="b"/>
            <a:pathLst>
              <a:path w="4800600" h="330200">
                <a:moveTo>
                  <a:pt x="0" y="88900"/>
                </a:moveTo>
                <a:arcTo hR="88900" wR="88900" stAng="10800000" swAng="5400000"/>
                <a:lnTo>
                  <a:pt x="4711700" y="0"/>
                </a:lnTo>
                <a:arcTo hR="88900" wR="88900" stAng="16200000" swAng="5400000"/>
                <a:lnTo>
                  <a:pt x="480060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9E5DC"/>
          </a:solidFill>
          <a:ln/>
        </p:spPr>
      </p:sp>
      <p:pic>
        <p:nvPicPr>
          <p:cNvPr id="5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2462014"/>
            <a:ext cx="101600" cy="101600"/>
          </a:xfrm>
          <a:prstGeom prst="rect">
            <a:avLst/>
          </a:prstGeom>
        </p:spPr>
      </p:pic>
      <p:pic>
        <p:nvPicPr>
          <p:cNvPr id="6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7600" y="2462014"/>
            <a:ext cx="101600" cy="101600"/>
          </a:xfrm>
          <a:prstGeom prst="rect">
            <a:avLst/>
          </a:prstGeom>
        </p:spPr>
      </p:pic>
      <p:pic>
        <p:nvPicPr>
          <p:cNvPr id="7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82700" y="2462014"/>
            <a:ext cx="101600" cy="101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49400" y="2406154"/>
            <a:ext cx="17585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github.com/…/actions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1054100" y="3519190"/>
            <a:ext cx="4343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pic>
        <p:nvPicPr>
          <p:cNvPr id="10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54100" y="3071515"/>
            <a:ext cx="254000" cy="254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09700" y="2970014"/>
            <a:ext cx="146585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diário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1409700" y="3213795"/>
            <a:ext cx="16980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agendado · ter 22:03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1054100" y="4287441"/>
            <a:ext cx="4343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pic>
        <p:nvPicPr>
          <p:cNvPr id="14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54100" y="3839766"/>
            <a:ext cx="254000" cy="254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09700" y="3738265"/>
            <a:ext cx="153372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diário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1409700" y="3982045"/>
            <a:ext cx="17795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agendado · seg 22:04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1054100" y="5055691"/>
            <a:ext cx="4343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pic>
        <p:nvPicPr>
          <p:cNvPr id="18" name="Image 5" descr="Warni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54100" y="4608016"/>
            <a:ext cx="254000" cy="254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09700" y="4506516"/>
            <a:ext cx="152519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diário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1409700" y="4750296"/>
            <a:ext cx="17692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agendado · sex 22:02</a:t>
            </a:r>
            <a:endParaRPr lang="en-US" sz="1200" dirty="0"/>
          </a:p>
        </p:txBody>
      </p:sp>
      <p:pic>
        <p:nvPicPr>
          <p:cNvPr id="21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892800" y="3754041"/>
            <a:ext cx="406400" cy="1016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559550" y="2516584"/>
            <a:ext cx="4813300" cy="2576513"/>
          </a:xfrm>
          <a:prstGeom prst="roundRect">
            <a:avLst>
              <a:gd name="adj" fmla="val 4190"/>
            </a:avLst>
          </a:prstGeom>
          <a:solidFill>
            <a:srgbClr val="FFFDF8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6769100" y="2726134"/>
            <a:ext cx="452602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da execução que falhou:</a:t>
            </a:r>
            <a:endParaRPr lang="en-US" sz="1300" dirty="0"/>
          </a:p>
        </p:txBody>
      </p:sp>
      <p:pic>
        <p:nvPicPr>
          <p:cNvPr id="24" name="Image 7" descr="CheckCircl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69100" y="307717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86600" y="3075980"/>
            <a:ext cx="17289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o repositório</a:t>
            </a:r>
            <a:endParaRPr lang="en-US" sz="1300" dirty="0"/>
          </a:p>
        </p:txBody>
      </p:sp>
      <p:pic>
        <p:nvPicPr>
          <p:cNvPr id="26" name="Image 8" descr="CheckCircl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69100" y="3486051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086600" y="3484860"/>
            <a:ext cx="1905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as bibliotecas</a:t>
            </a:r>
            <a:endParaRPr lang="en-US" sz="1300" dirty="0"/>
          </a:p>
        </p:txBody>
      </p:sp>
      <p:pic>
        <p:nvPicPr>
          <p:cNvPr id="28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769100" y="3894931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086600" y="3893741"/>
            <a:ext cx="161877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sem internet</a:t>
            </a:r>
            <a:endParaRPr lang="en-US" sz="1300" dirty="0"/>
          </a:p>
        </p:txBody>
      </p:sp>
      <p:pic>
        <p:nvPicPr>
          <p:cNvPr id="30" name="Image 10" descr="Warni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769100" y="4303812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7086600" y="4302621"/>
            <a:ext cx="14429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o pipeline</a:t>
            </a:r>
            <a:endParaRPr lang="en-US" sz="1300" dirty="0"/>
          </a:p>
        </p:txBody>
      </p:sp>
      <p:sp>
        <p:nvSpPr>
          <p:cNvPr id="32" name="Text 19"/>
          <p:cNvSpPr/>
          <p:nvPr/>
        </p:nvSpPr>
        <p:spPr>
          <a:xfrm>
            <a:off x="6769100" y="4660702"/>
            <a:ext cx="45974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as últimas linhas do passo vermelho → </a:t>
            </a:r>
            <a:r>
              <a:rPr lang="en-US" sz="1300" b="1" dirty="0">
                <a:solidFill>
                  <a:srgbClr val="B95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jobs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790678"/>
            <a:ext cx="9810750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app conversa com o banco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 · login · RLS · sessão · um clique de ponta a ponta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chaves, dois poderes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5143500" cy="4467920"/>
          </a:xfrm>
          <a:prstGeom prst="roundRect">
            <a:avLst>
              <a:gd name="adj" fmla="val 2700"/>
            </a:avLst>
          </a:prstGeom>
          <a:solidFill>
            <a:srgbClr val="FFFDF8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4" name="Image 0" descr="Ke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183128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9500" y="2339280"/>
            <a:ext cx="47614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sb_publishable_…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79500" y="269994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usa:</a:t>
            </a: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app Streamlit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9500" y="305038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fica:</a:t>
            </a: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secrets do Streamlit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9500" y="3400822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pode:</a:t>
            </a: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só o que a RLS libera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29350" y="1570930"/>
            <a:ext cx="5143500" cy="4467920"/>
          </a:xfrm>
          <a:prstGeom prst="roundRect">
            <a:avLst>
              <a:gd name="adj" fmla="val 2700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pic>
        <p:nvPicPr>
          <p:cNvPr id="10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89700" y="1831280"/>
            <a:ext cx="40640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89700" y="2339280"/>
            <a:ext cx="47614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sb_secret_…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89700" y="269994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usa:</a:t>
            </a: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pipeline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89700" y="305038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fica:</a:t>
            </a: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secrets do GitHub, e só lá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89700" y="3400822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pode:</a:t>
            </a:r>
            <a:r>
              <a:rPr lang="en-US" sz="14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tudo: ignora a RLS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login: o token fica na sessão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9650" y="1520130"/>
            <a:ext cx="2146300" cy="393700"/>
          </a:xfrm>
          <a:prstGeom prst="roundRect">
            <a:avLst>
              <a:gd name="adj" fmla="val 2096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2850" y="1520130"/>
            <a:ext cx="2146300" cy="393700"/>
          </a:xfrm>
          <a:prstGeom prst="roundRect">
            <a:avLst>
              <a:gd name="adj" fmla="val 2096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Streamlit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036050" y="1520130"/>
            <a:ext cx="2146300" cy="393700"/>
          </a:xfrm>
          <a:prstGeom prst="roundRect">
            <a:avLst>
              <a:gd name="adj" fmla="val 2096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pic>
        <p:nvPicPr>
          <p:cNvPr id="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44700" y="1882080"/>
            <a:ext cx="76200" cy="3733800"/>
          </a:xfrm>
          <a:prstGeom prst="rect">
            <a:avLst/>
          </a:prstGeom>
        </p:spPr>
      </p:pic>
      <p:pic>
        <p:nvPicPr>
          <p:cNvPr id="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57900" y="1882080"/>
            <a:ext cx="76200" cy="3733800"/>
          </a:xfrm>
          <a:prstGeom prst="rect">
            <a:avLst/>
          </a:prstGeom>
        </p:spPr>
      </p:pic>
      <p:pic>
        <p:nvPicPr>
          <p:cNvPr id="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71100" y="1882080"/>
            <a:ext cx="76200" cy="3733800"/>
          </a:xfrm>
          <a:prstGeom prst="rect">
            <a:avLst/>
          </a:prstGeom>
        </p:spPr>
      </p:pic>
      <p:pic>
        <p:nvPicPr>
          <p:cNvPr id="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32000" y="2288480"/>
            <a:ext cx="4089400" cy="101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152650" y="2085280"/>
            <a:ext cx="3924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e senha</a:t>
            </a:r>
            <a:endParaRPr lang="en-US" sz="1300" dirty="0"/>
          </a:p>
        </p:txBody>
      </p:sp>
      <p:pic>
        <p:nvPicPr>
          <p:cNvPr id="1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45200" y="2796480"/>
            <a:ext cx="4089400" cy="101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65850" y="2593280"/>
            <a:ext cx="3924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sign_in_with_password</a:t>
            </a:r>
            <a:endParaRPr lang="en-US" sz="1300" dirty="0"/>
          </a:p>
        </p:txBody>
      </p:sp>
      <p:pic>
        <p:nvPicPr>
          <p:cNvPr id="1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070600" y="3304480"/>
            <a:ext cx="4089400" cy="101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65850" y="3101280"/>
            <a:ext cx="3924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 + refresh token</a:t>
            </a:r>
            <a:endParaRPr lang="en-US" sz="1300" dirty="0"/>
          </a:p>
        </p:txBody>
      </p:sp>
      <p:sp>
        <p:nvSpPr>
          <p:cNvPr id="15" name="Shape 7"/>
          <p:cNvSpPr/>
          <p:nvPr/>
        </p:nvSpPr>
        <p:spPr>
          <a:xfrm>
            <a:off x="4324350" y="3615630"/>
            <a:ext cx="3543300" cy="812800"/>
          </a:xfrm>
          <a:prstGeom prst="roundRect">
            <a:avLst>
              <a:gd name="adj" fmla="val 11719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4619982" y="3762970"/>
            <a:ext cx="29520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o cliente com o token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4966464" y="4049911"/>
            <a:ext cx="22589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5FD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st.session_state.sb</a:t>
            </a:r>
            <a:endParaRPr lang="en-US" sz="1300" dirty="0"/>
          </a:p>
        </p:txBody>
      </p:sp>
      <p:pic>
        <p:nvPicPr>
          <p:cNvPr id="18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45200" y="4891980"/>
            <a:ext cx="4089400" cy="101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165850" y="4688780"/>
            <a:ext cx="3924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consulta leva o token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RLS filtra cada consulta do 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376091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logado, pelo app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3963591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com a chave secreta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9150" y="2661841"/>
            <a:ext cx="2400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6231" y="2872680"/>
            <a:ext cx="14861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Streamlit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8567" y="3177480"/>
            <a:ext cx="2201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publishable + token da Ana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6950" y="2661841"/>
            <a:ext cx="2400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03412" y="2872680"/>
            <a:ext cx="18673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 Supabase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98196" y="3177480"/>
            <a:ext cx="1677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 o token: Ana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750" y="2661841"/>
            <a:ext cx="2400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521" y="2872680"/>
            <a:ext cx="203465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1100" y="3177480"/>
            <a:ext cx="238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acrescenta user_id = auth.uid()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72550" y="2661841"/>
            <a:ext cx="2400300" cy="939800"/>
          </a:xfrm>
          <a:prstGeom prst="roundRect">
            <a:avLst>
              <a:gd name="adj" fmla="val 10135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58122" y="2872680"/>
            <a:ext cx="10290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67944" y="3177480"/>
            <a:ext cx="1809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as carteiras da Ana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150" y="4249341"/>
            <a:ext cx="2400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931" y="4460180"/>
            <a:ext cx="17147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Python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49953" y="4764980"/>
            <a:ext cx="11385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secreta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36950" y="4249341"/>
            <a:ext cx="2400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412" y="4460180"/>
            <a:ext cx="18673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 Supabase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94983" y="4764980"/>
            <a:ext cx="1484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service_role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4750" y="4249341"/>
            <a:ext cx="2400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4341" y="4460180"/>
            <a:ext cx="13211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95673" y="4764980"/>
            <a:ext cx="11183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ignorada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72550" y="4249341"/>
            <a:ext cx="2400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1573" y="4460180"/>
            <a:ext cx="1042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89755" y="4764980"/>
            <a:ext cx="15657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qualquer tabela</a:t>
            </a:r>
            <a:endParaRPr lang="en-US" sz="1200" dirty="0"/>
          </a:p>
        </p:txBody>
      </p:sp>
      <p:pic>
        <p:nvPicPr>
          <p:cNvPr id="2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75000" y="3080941"/>
            <a:ext cx="393700" cy="101600"/>
          </a:xfrm>
          <a:prstGeom prst="rect">
            <a:avLst/>
          </a:prstGeom>
        </p:spPr>
      </p:pic>
      <p:pic>
        <p:nvPicPr>
          <p:cNvPr id="3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75000" y="4668441"/>
            <a:ext cx="393700" cy="101600"/>
          </a:xfrm>
          <a:prstGeom prst="rect">
            <a:avLst/>
          </a:prstGeom>
        </p:spPr>
      </p:pic>
      <p:pic>
        <p:nvPicPr>
          <p:cNvPr id="3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92800" y="3080941"/>
            <a:ext cx="393700" cy="101600"/>
          </a:xfrm>
          <a:prstGeom prst="rect">
            <a:avLst/>
          </a:prstGeom>
        </p:spPr>
      </p:pic>
      <p:pic>
        <p:nvPicPr>
          <p:cNvPr id="3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92800" y="4668441"/>
            <a:ext cx="393700" cy="101600"/>
          </a:xfrm>
          <a:prstGeom prst="rect">
            <a:avLst/>
          </a:prstGeom>
        </p:spPr>
      </p:pic>
      <p:pic>
        <p:nvPicPr>
          <p:cNvPr id="33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10600" y="3080941"/>
            <a:ext cx="393700" cy="101600"/>
          </a:xfrm>
          <a:prstGeom prst="rect">
            <a:avLst/>
          </a:prstGeom>
        </p:spPr>
      </p:pic>
      <p:pic>
        <p:nvPicPr>
          <p:cNvPr id="34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10600" y="4668441"/>
            <a:ext cx="3937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usuário tem a sua conexão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00150" y="1520130"/>
            <a:ext cx="4051300" cy="622300"/>
          </a:xfrm>
          <a:prstGeom prst="roundRect">
            <a:avLst>
              <a:gd name="adj" fmla="val 15306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80052" tIns="0" rIns="80052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da Ana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940550" y="1520130"/>
            <a:ext cx="4051300" cy="622300"/>
          </a:xfrm>
          <a:prstGeom prst="roundRect">
            <a:avLst>
              <a:gd name="adj" fmla="val 15306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80052" tIns="0" rIns="80052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do Bruno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9150" y="2472630"/>
            <a:ext cx="10553700" cy="2082800"/>
          </a:xfrm>
          <a:prstGeom prst="roundRect">
            <a:avLst>
              <a:gd name="adj" fmla="val 5183"/>
            </a:avLst>
          </a:prstGeom>
          <a:noFill/>
          <a:ln w="12700">
            <a:solidFill>
              <a:srgbClr val="D8D3C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65200" y="254248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do app Streamlit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00150" y="2853630"/>
            <a:ext cx="4051300" cy="685800"/>
          </a:xfrm>
          <a:prstGeom prst="roundRect">
            <a:avLst>
              <a:gd name="adj" fmla="val 1388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53962" y="2937470"/>
            <a:ext cx="27436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session_state da Ana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76857" y="3242270"/>
            <a:ext cx="22977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com o login da 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0550" y="2853630"/>
            <a:ext cx="4051300" cy="685800"/>
          </a:xfrm>
          <a:prstGeom prst="roundRect">
            <a:avLst>
              <a:gd name="adj" fmla="val 1388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7093" y="2937470"/>
            <a:ext cx="30181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session_state do Bruno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30927" y="3242270"/>
            <a:ext cx="24705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com o login do Bruno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79850" y="3742630"/>
            <a:ext cx="4432300" cy="685800"/>
          </a:xfrm>
          <a:prstGeom prst="roundRect">
            <a:avLst>
              <a:gd name="adj" fmla="val 13889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9902" y="3826470"/>
            <a:ext cx="23321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st.cache_resource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94647" y="4131270"/>
            <a:ext cx="260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só para todos: nunca o login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150" y="4949130"/>
            <a:ext cx="10553700" cy="622300"/>
          </a:xfrm>
          <a:prstGeom prst="roundRect">
            <a:avLst>
              <a:gd name="adj" fmla="val 15306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5782" y="5001220"/>
            <a:ext cx="17403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RLS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50732" y="5306020"/>
            <a:ext cx="42905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consulta devolve só as linhas do dono do token</a:t>
            </a:r>
            <a:endParaRPr lang="en-US" sz="1200" dirty="0"/>
          </a:p>
        </p:txBody>
      </p:sp>
      <p:pic>
        <p:nvPicPr>
          <p:cNvPr id="1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75000" y="2097980"/>
            <a:ext cx="101600" cy="787400"/>
          </a:xfrm>
          <a:prstGeom prst="rect">
            <a:avLst/>
          </a:prstGeom>
        </p:spPr>
      </p:pic>
      <p:pic>
        <p:nvPicPr>
          <p:cNvPr id="2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15400" y="2097980"/>
            <a:ext cx="101600" cy="787400"/>
          </a:xfrm>
          <a:prstGeom prst="rect">
            <a:avLst/>
          </a:prstGeom>
        </p:spPr>
      </p:pic>
      <p:pic>
        <p:nvPicPr>
          <p:cNvPr id="2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24000" y="3494980"/>
            <a:ext cx="101600" cy="1485900"/>
          </a:xfrm>
          <a:prstGeom prst="rect">
            <a:avLst/>
          </a:prstGeom>
        </p:spPr>
      </p:pic>
      <p:pic>
        <p:nvPicPr>
          <p:cNvPr id="2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566400" y="3494980"/>
            <a:ext cx="101600" cy="1485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76400" y="4244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da Ana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553450" y="4244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do Bruno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clique de ponta a ponta: Gerar carteira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1517650"/>
            <a:ext cx="2146300" cy="393700"/>
          </a:xfrm>
          <a:prstGeom prst="roundRect">
            <a:avLst>
              <a:gd name="adj" fmla="val 2096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95650" y="1517650"/>
            <a:ext cx="2146300" cy="393700"/>
          </a:xfrm>
          <a:prstGeom prst="roundRect">
            <a:avLst>
              <a:gd name="adj" fmla="val 2096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Streamlit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62650" y="1517650"/>
            <a:ext cx="2146300" cy="393700"/>
          </a:xfrm>
          <a:prstGeom prst="roundRect">
            <a:avLst>
              <a:gd name="adj" fmla="val 2096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 Supabase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83650" y="1517650"/>
            <a:ext cx="2146300" cy="393700"/>
          </a:xfrm>
          <a:prstGeom prst="roundRect">
            <a:avLst>
              <a:gd name="adj" fmla="val 2096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63700" y="1879600"/>
            <a:ext cx="76200" cy="3733800"/>
          </a:xfrm>
          <a:prstGeom prst="rect">
            <a:avLst/>
          </a:prstGeom>
        </p:spPr>
      </p:pic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30700" y="1879600"/>
            <a:ext cx="76200" cy="3733800"/>
          </a:xfrm>
          <a:prstGeom prst="rect">
            <a:avLst/>
          </a:prstGeom>
        </p:spPr>
      </p:pic>
      <p:pic>
        <p:nvPicPr>
          <p:cNvPr id="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97700" y="1879600"/>
            <a:ext cx="76200" cy="3733800"/>
          </a:xfrm>
          <a:prstGeom prst="rect">
            <a:avLst/>
          </a:prstGeom>
        </p:spPr>
      </p:pic>
      <p:pic>
        <p:nvPicPr>
          <p:cNvPr id="1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18700" y="1879600"/>
            <a:ext cx="76200" cy="3733800"/>
          </a:xfrm>
          <a:prstGeom prst="rect">
            <a:avLst/>
          </a:prstGeom>
        </p:spPr>
      </p:pic>
      <p:pic>
        <p:nvPicPr>
          <p:cNvPr id="1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51000" y="2222500"/>
            <a:ext cx="2743200" cy="101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61795" y="203200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em Gerar carteira</a:t>
            </a:r>
            <a:endParaRPr lang="en-US" sz="1200" dirty="0"/>
          </a:p>
        </p:txBody>
      </p:sp>
      <p:pic>
        <p:nvPicPr>
          <p:cNvPr id="1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18000" y="2667000"/>
            <a:ext cx="2743200" cy="101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328795" y="247650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rpc + token da Ana</a:t>
            </a:r>
            <a:endParaRPr lang="en-US" sz="1200" dirty="0"/>
          </a:p>
        </p:txBody>
      </p:sp>
      <p:pic>
        <p:nvPicPr>
          <p:cNvPr id="15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85000" y="3111500"/>
            <a:ext cx="2997200" cy="101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991985" y="292100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 como a Ana</a:t>
            </a:r>
            <a:endParaRPr lang="en-US" sz="1200" dirty="0"/>
          </a:p>
        </p:txBody>
      </p:sp>
      <p:sp>
        <p:nvSpPr>
          <p:cNvPr id="17" name="Shape 8"/>
          <p:cNvSpPr/>
          <p:nvPr/>
        </p:nvSpPr>
        <p:spPr>
          <a:xfrm>
            <a:off x="7956550" y="3359150"/>
            <a:ext cx="3416300" cy="1066800"/>
          </a:xfrm>
          <a:prstGeom prst="roundRect">
            <a:avLst>
              <a:gd name="adj" fmla="val 8929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18" name="Text 9"/>
          <p:cNvSpPr/>
          <p:nvPr/>
        </p:nvSpPr>
        <p:spPr>
          <a:xfrm>
            <a:off x="8115300" y="3390999"/>
            <a:ext cx="319176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9520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montar_carteira</a:t>
            </a:r>
            <a:endParaRPr lang="en-US" sz="1400" dirty="0"/>
          </a:p>
        </p:txBody>
      </p:sp>
      <p:sp>
        <p:nvSpPr>
          <p:cNvPr id="19" name="Text 10"/>
          <p:cNvSpPr/>
          <p:nvPr/>
        </p:nvSpPr>
        <p:spPr>
          <a:xfrm>
            <a:off x="8115300" y="3677940"/>
            <a:ext cx="319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pega o último pregão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8115300" y="3929360"/>
            <a:ext cx="319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cria a carteira do dono do token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8115300" y="4180780"/>
            <a:ext cx="319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insere os itens; a RLS confere</a:t>
            </a:r>
            <a:endParaRPr lang="en-US" sz="1200" dirty="0"/>
          </a:p>
        </p:txBody>
      </p:sp>
      <p:pic>
        <p:nvPicPr>
          <p:cNvPr id="22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85000" y="4705350"/>
            <a:ext cx="3079750" cy="107950"/>
          </a:xfrm>
          <a:prstGeom prst="rect">
            <a:avLst/>
          </a:prstGeom>
        </p:spPr>
      </p:pic>
      <p:pic>
        <p:nvPicPr>
          <p:cNvPr id="23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343400" y="4953000"/>
            <a:ext cx="2743200" cy="101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4328795" y="476250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devolve o id</a:t>
            </a:r>
            <a:endParaRPr lang="en-US" sz="1200" dirty="0"/>
          </a:p>
        </p:txBody>
      </p:sp>
      <p:pic>
        <p:nvPicPr>
          <p:cNvPr id="25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676400" y="5334000"/>
            <a:ext cx="2743200" cy="1016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661795" y="514350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Minhas carteiras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6969760" y="4492625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da carteira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repositório, duas publicações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14850" y="1520130"/>
            <a:ext cx="3162300" cy="812800"/>
          </a:xfrm>
          <a:prstGeom prst="roundRect">
            <a:avLst>
              <a:gd name="adj" fmla="val 1171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4" name="Image 0" descr="Code">    </p:cNvPr>
          <p:cNvPicPr>
            <a:picLocks noChangeAspect="1"/>
          </p:cNvPicPr>
          <p:nvPr/>
        </p:nvPicPr>
        <p:blipFill>
          <a:blip r:embed="rId1"/>
          <a:srcRect l="0" r="0" t="-320" b="-320"/>
          <a:stretch/>
        </p:blipFill>
        <p:spPr>
          <a:xfrm>
            <a:off x="5943600" y="1526480"/>
            <a:ext cx="304800" cy="281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53714" y="1845766"/>
            <a:ext cx="2284571" cy="271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9"/>
              </a:lnSpc>
              <a:buNone/>
            </a:pPr>
            <a:r>
              <a:rPr lang="en-US" sz="1406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no GitHub</a:t>
            </a:r>
            <a:endParaRPr lang="en-US" sz="1406" dirty="0"/>
          </a:p>
        </p:txBody>
      </p:sp>
      <p:sp>
        <p:nvSpPr>
          <p:cNvPr id="6" name="Text 3"/>
          <p:cNvSpPr/>
          <p:nvPr/>
        </p:nvSpPr>
        <p:spPr>
          <a:xfrm>
            <a:off x="5469612" y="2129830"/>
            <a:ext cx="1252776" cy="22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código</a:t>
            </a:r>
            <a:endParaRPr lang="en-US" sz="1121" dirty="0"/>
          </a:p>
        </p:txBody>
      </p:sp>
      <p:sp>
        <p:nvSpPr>
          <p:cNvPr id="7" name="Shape 4"/>
          <p:cNvSpPr/>
          <p:nvPr/>
        </p:nvSpPr>
        <p:spPr>
          <a:xfrm>
            <a:off x="819150" y="3107630"/>
            <a:ext cx="3924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8" name="Image 1" descr="Pla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28900" y="3147020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53697" y="3489920"/>
            <a:ext cx="165520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81636" y="3794720"/>
            <a:ext cx="23992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· 22h · chave secreta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448550" y="3107630"/>
            <a:ext cx="3924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12" name="Image 2" descr="Clou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58300" y="3147020"/>
            <a:ext cx="304800" cy="304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05631" y="3489920"/>
            <a:ext cx="30101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Community Cloud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094226" y="3794720"/>
            <a:ext cx="26329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· sempre no ar · publishable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9150" y="4822130"/>
            <a:ext cx="10553700" cy="749300"/>
          </a:xfrm>
          <a:prstGeom prst="roundRect">
            <a:avLst>
              <a:gd name="adj" fmla="val 12712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555942" y="4937720"/>
            <a:ext cx="10800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98206" y="5242520"/>
            <a:ext cx="2795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banco, duas formas de acesso</a:t>
            </a:r>
            <a:endParaRPr lang="en-US" sz="1200" dirty="0"/>
          </a:p>
        </p:txBody>
      </p:sp>
      <p:pic>
        <p:nvPicPr>
          <p:cNvPr id="1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45200" y="2288480"/>
            <a:ext cx="101600" cy="482600"/>
          </a:xfrm>
          <a:prstGeom prst="rect">
            <a:avLst/>
          </a:prstGeom>
        </p:spPr>
      </p:pic>
      <p:pic>
        <p:nvPicPr>
          <p:cNvPr id="19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30500" y="2669480"/>
            <a:ext cx="3416300" cy="101600"/>
          </a:xfrm>
          <a:prstGeom prst="rect">
            <a:avLst/>
          </a:prstGeom>
        </p:spPr>
      </p:pic>
      <p:pic>
        <p:nvPicPr>
          <p:cNvPr id="20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730500" y="2669480"/>
            <a:ext cx="101600" cy="469900"/>
          </a:xfrm>
          <a:prstGeom prst="rect">
            <a:avLst/>
          </a:prstGeom>
        </p:spPr>
      </p:pic>
      <p:pic>
        <p:nvPicPr>
          <p:cNvPr id="21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45200" y="2669480"/>
            <a:ext cx="3416300" cy="101600"/>
          </a:xfrm>
          <a:prstGeom prst="rect">
            <a:avLst/>
          </a:prstGeom>
        </p:spPr>
      </p:pic>
      <p:pic>
        <p:nvPicPr>
          <p:cNvPr id="22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359900" y="2669480"/>
            <a:ext cx="101600" cy="469900"/>
          </a:xfrm>
          <a:prstGeom prst="rect">
            <a:avLst/>
          </a:prstGeom>
        </p:spPr>
      </p:pic>
      <p:pic>
        <p:nvPicPr>
          <p:cNvPr id="23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730500" y="4002980"/>
            <a:ext cx="101600" cy="850900"/>
          </a:xfrm>
          <a:prstGeom prst="rect">
            <a:avLst/>
          </a:prstGeom>
        </p:spPr>
      </p:pic>
      <p:pic>
        <p:nvPicPr>
          <p:cNvPr id="24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359900" y="4002980"/>
            <a:ext cx="1016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ideias para levar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2520950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4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950" y="177413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950" y="22059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é o contrato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6950" y="25259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trocáveis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95675" y="1567755"/>
            <a:ext cx="2520950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8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6650" y="1774130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6650" y="22059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no banco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76650" y="25259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RLS, chaves, funções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5375" y="1567755"/>
            <a:ext cx="2520950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2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56350" y="1774130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6350" y="22059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mínima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56350" y="25259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programa, a sua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855075" y="1567755"/>
            <a:ext cx="2520950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6" name="Image 3" descr="Setting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6050" y="1774130"/>
            <a:ext cx="355600" cy="355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36050" y="2205930"/>
            <a:ext cx="222377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Segredos fora do código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036050" y="276969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e .gitignore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15975" y="3884216"/>
            <a:ext cx="2520950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0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6950" y="4090591"/>
            <a:ext cx="355600" cy="355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96950" y="4522391"/>
            <a:ext cx="23368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antes de gravar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996950" y="484237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ruim chega ao banco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495675" y="3884216"/>
            <a:ext cx="2520950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4" name="Image 5" descr="Activity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76650" y="4090591"/>
            <a:ext cx="355600" cy="355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76650" y="4522391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repetíveis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3676650" y="484237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 não duplica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175375" y="3884216"/>
            <a:ext cx="2520950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8" name="Image 6" descr="Wrench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56350" y="4090591"/>
            <a:ext cx="355600" cy="355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56350" y="4522391"/>
            <a:ext cx="222377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 em dados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6356350" y="508615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de ações é uma tabela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855075" y="3884216"/>
            <a:ext cx="2520950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32" name="Image 7" descr="Clo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36050" y="4090591"/>
            <a:ext cx="355600" cy="3556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36050" y="4522391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Respeitar o tempo</a:t>
            </a:r>
            <a:endParaRPr lang="en-US" sz="1600" dirty="0"/>
          </a:p>
        </p:txBody>
      </p:sp>
      <p:sp>
        <p:nvSpPr>
          <p:cNvPr id="34" name="Text 24"/>
          <p:cNvSpPr/>
          <p:nvPr/>
        </p:nvSpPr>
        <p:spPr>
          <a:xfrm>
            <a:off x="9036050" y="4842371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no passado, teste no futuro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3606800"/>
            <a:ext cx="8940800" cy="381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10883392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Agora, ao vivo: tudo no ar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388467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05867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pronto (Aula 1)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49600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667000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e secrets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10634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428034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execução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1766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062166" y="4064000"/>
            <a:ext cx="182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no banco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2800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50200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o app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193834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711234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com dois usuários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2800" y="5334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passo a passo: Monitor B3 — Guia de implantação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la 4 — Arquitetura do Monitor B3 e o pipeline">
  <a:themeElements>
    <a:clrScheme name="Aula 4 — Arquitetura do Monitor B3 e o pipeline">
      <a:dk1>
        <a:srgbClr val="1C2433"/>
      </a:dk1>
      <a:lt1>
        <a:srgbClr val="F5F3EE"/>
      </a:lt1>
      <a:dk2>
        <a:srgbClr val="525862"/>
      </a:dk2>
      <a:lt2>
        <a:srgbClr val="DFDEDB"/>
      </a:lt2>
      <a:accent1>
        <a:srgbClr val="1F5FD1"/>
      </a:accent1>
      <a:accent2>
        <a:srgbClr val="B9520E"/>
      </a:accent2>
      <a:accent3>
        <a:srgbClr val="8DB6FF"/>
      </a:accent3>
      <a:accent4>
        <a:srgbClr val="FBE3D0"/>
      </a:accent4>
      <a:accent5>
        <a:srgbClr val="566070"/>
      </a:accent5>
      <a:accent6>
        <a:srgbClr val="DCE7FA"/>
      </a:accent6>
      <a:hlink>
        <a:srgbClr val="0563C1"/>
      </a:hlink>
      <a:folHlink>
        <a:srgbClr val="954F72"/>
      </a:folHlink>
    </a:clrScheme>
    <a:fontScheme name="Aula 4 — Arquitetura do Monitor B3 e o pipelin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4 — Arquitetura do Monitor B3 e o pipeline</dc:title>
  <dc:subject/>
  <dc:creator/>
  <cp:lastModifiedBy/>
  <cp:revision>1</cp:revision>
  <dcterms:created xsi:type="dcterms:W3CDTF">2026-10-02T19:32:15Z</dcterms:created>
  <dcterms:modified xsi:type="dcterms:W3CDTF">2026-10-02T19:32:15Z</dcterms:modified>
</cp:coreProperties>
</file>